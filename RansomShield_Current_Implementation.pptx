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8C9B1"/>
          </a:solidFill>
          <a:ln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640080"/>
            <a:ext cx="1737360" cy="310896"/>
          </a:xfrm>
          <a:prstGeom prst="roundRect">
            <a:avLst>
              <a:gd name="adj" fmla="val 12000"/>
            </a:avLst>
          </a:prstGeom>
          <a:solidFill>
            <a:srgbClr val="263B2C"/>
          </a:solidFill>
          <a:ln w="12700">
            <a:solidFill>
              <a:srgbClr val="31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CURRENT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8138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>
                <a:solidFill>
                  <a:srgbClr val="F2F0E9"/>
                </a:solidFill>
                <a:latin typeface="Aptos Display"/>
              </a:rPr>
              <a:t>RansomShield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194560"/>
            <a:ext cx="7498079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A8C9B1"/>
                </a:solidFill>
                <a:latin typeface="Aptos Display"/>
              </a:rPr>
              <a:t>Behavioral Ransomware Detection</a:t>
            </a:r>
            <a:br/>
            <a:r>
              <a:t>&amp; Alerting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A9AFA2"/>
                </a:solidFill>
                <a:latin typeface="Aptos"/>
              </a:rPr>
              <a:t>Flask application • Secure accounts • Live safe-folder monitoring • Persisted alerts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4297680"/>
            <a:ext cx="7223760" cy="0"/>
          </a:xfrm>
          <a:prstGeom prst="line">
            <a:avLst/>
          </a:prstGeom>
          <a:ln w="19050">
            <a:solidFill>
              <a:srgbClr val="363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4572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F0E9"/>
                </a:solidFill>
                <a:latin typeface="Aptos"/>
              </a:rPr>
              <a:t>Department of Computer Science &amp;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Bapuji Institute of Engineering and Technology, Davanagere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218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Project Guide: Dr. Usha G R</a:t>
            </a:r>
          </a:p>
        </p:txBody>
      </p:sp>
      <p:sp>
        <p:nvSpPr>
          <p:cNvPr id="12" name="Oval 11"/>
          <p:cNvSpPr/>
          <p:nvPr/>
        </p:nvSpPr>
        <p:spPr>
          <a:xfrm>
            <a:off x="9235440" y="1234440"/>
            <a:ext cx="2057400" cy="2057400"/>
          </a:xfrm>
          <a:prstGeom prst="ellipse">
            <a:avLst/>
          </a:prstGeom>
          <a:solidFill>
            <a:srgbClr val="263B2C"/>
          </a:solidFill>
          <a:ln w="254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234440"/>
            <a:ext cx="2057400" cy="205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A8C9B1"/>
                </a:solidFill>
                <a:latin typeface="Aptos"/>
              </a:rPr>
              <a:t>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5168" y="379476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D8A45C"/>
                </a:solidFill>
                <a:latin typeface="Aptos"/>
              </a:rPr>
              <a:t>PHASE</a:t>
            </a:r>
            <a:br/>
            <a:r>
              <a:t>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45168" y="45720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F2F0E9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PROJECT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2F0E9"/>
                </a:solidFill>
                <a:latin typeface="Aptos Display"/>
              </a:rPr>
              <a:t>What RansomShield is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AFA2"/>
                </a:solidFill>
                <a:latin typeface="Aptos"/>
              </a:rPr>
              <a:t>A working web foundation with real, bounded monitoring logic—not yet the final ML detector.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9AFA2"/>
                </a:solidFill>
                <a:latin typeface="Aptos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783080"/>
            <a:ext cx="10908792" cy="0"/>
          </a:xfrm>
          <a:prstGeom prst="line">
            <a:avLst/>
          </a:prstGeom>
          <a:ln w="12700">
            <a:solidFill>
              <a:srgbClr val="363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057400"/>
            <a:ext cx="3474720" cy="352044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54864" cy="3520440"/>
          </a:xfrm>
          <a:prstGeom prst="rect">
            <a:avLst/>
          </a:prstGeom>
          <a:solidFill>
            <a:srgbClr val="A8C9B1"/>
          </a:solidFill>
          <a:ln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313432"/>
            <a:ext cx="502920" cy="502920"/>
          </a:xfrm>
          <a:prstGeom prst="ellipse">
            <a:avLst/>
          </a:prstGeom>
          <a:solidFill>
            <a:srgbClr val="263B2C"/>
          </a:solidFill>
          <a:ln w="127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1343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A8C9B1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29260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A8C9B1"/>
                </a:solidFill>
                <a:latin typeface="Aptos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64408"/>
            <a:ext cx="29260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2F0E9"/>
                </a:solidFill>
                <a:latin typeface="Aptos"/>
              </a:rPr>
              <a:t>Early behavioral awareness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39"/>
            <a:ext cx="292607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A9AFA2"/>
                </a:solidFill>
                <a:latin typeface="Aptos"/>
              </a:rPr>
              <a:t>Observe system and file behavior, assign a transparent risk score, and present events and alerts through a protected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057400"/>
            <a:ext cx="3474720" cy="352044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057400"/>
            <a:ext cx="54864" cy="3520440"/>
          </a:xfrm>
          <a:prstGeom prst="rect">
            <a:avLst/>
          </a:prstGeom>
          <a:solidFill>
            <a:srgbClr val="D8A45C"/>
          </a:solidFill>
          <a:ln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17720" y="2313432"/>
            <a:ext cx="502920" cy="502920"/>
          </a:xfrm>
          <a:prstGeom prst="ellipse">
            <a:avLst/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31343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D8A45C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2971800"/>
            <a:ext cx="29260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D8A45C"/>
                </a:solidFill>
                <a:latin typeface="Aptos"/>
              </a:rPr>
              <a:t>IMPLEMENTED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3264408"/>
            <a:ext cx="29260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2F0E9"/>
                </a:solidFill>
                <a:latin typeface="Aptos"/>
              </a:rPr>
              <a:t>Flask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3749039"/>
            <a:ext cx="292607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A9AFA2"/>
                </a:solidFill>
                <a:latin typeface="Aptos"/>
              </a:rPr>
              <a:t>Responsive landing page, light/dark theme, signup, sign-in, secure sessions, protected APIs, dashboard controls, SQLite events, and alert review.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3296" y="2057400"/>
            <a:ext cx="3474720" cy="352044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2057400"/>
            <a:ext cx="54864" cy="3520440"/>
          </a:xfrm>
          <a:prstGeom prst="rect">
            <a:avLst/>
          </a:prstGeom>
          <a:solidFill>
            <a:srgbClr val="A8C9B1"/>
          </a:solidFill>
          <a:ln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39327" y="2313432"/>
            <a:ext cx="502920" cy="502920"/>
          </a:xfrm>
          <a:prstGeom prst="ellipse">
            <a:avLst/>
          </a:prstGeom>
          <a:solidFill>
            <a:srgbClr val="263B2C"/>
          </a:solidFill>
          <a:ln w="127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231343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A8C9B1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2971800"/>
            <a:ext cx="29260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A8C9B1"/>
                </a:solidFill>
                <a:latin typeface="Aptos"/>
              </a:rPr>
              <a:t>NEXT PHASE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3264408"/>
            <a:ext cx="29260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2F0E9"/>
                </a:solidFill>
                <a:latin typeface="Aptos"/>
              </a:rPr>
              <a:t>Hybrid ML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6" y="3749039"/>
            <a:ext cx="292607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A9AFA2"/>
                </a:solidFill>
                <a:latin typeface="Aptos"/>
              </a:rPr>
              <a:t>Replace the demonstration heuristic with validated TCN temporal features and an XGBoost classifier after dataset preparation and evaluation.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9224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RANSOMSHIELD  /  CURRENT IMPLEMENTATION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PROBLEM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2F0E9"/>
                </a:solidFill>
                <a:latin typeface="Aptos Display"/>
              </a:rPr>
              <a:t>Why behavior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AFA2"/>
                </a:solidFill>
                <a:latin typeface="Aptos"/>
              </a:rPr>
              <a:t>Signature-only defenses recognize what is already known; ransomware behavior can reveal risk earlier.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9AFA2"/>
                </a:solidFill>
                <a:latin typeface="Aptos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783080"/>
            <a:ext cx="10908792" cy="0"/>
          </a:xfrm>
          <a:prstGeom prst="line">
            <a:avLst/>
          </a:prstGeom>
          <a:ln w="12700">
            <a:solidFill>
              <a:srgbClr val="363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057400"/>
            <a:ext cx="5074920" cy="361188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2F0E9"/>
                </a:solidFill>
                <a:latin typeface="Aptos"/>
              </a:rPr>
              <a:t>Traditional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52928"/>
            <a:ext cx="425196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A9AFA2"/>
                </a:solidFill>
                <a:latin typeface="Aptos"/>
              </a:rPr>
              <a:t>•  New variants may not match existing signatures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A9AFA2"/>
                </a:solidFill>
                <a:latin typeface="Aptos"/>
              </a:rPr>
              <a:t>•  Detection may arrive after damaging activity begins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A9AFA2"/>
                </a:solidFill>
                <a:latin typeface="Aptos"/>
              </a:rPr>
              <a:t>•  Raw system events are difficult for users to interpret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A9AFA2"/>
                </a:solidFill>
                <a:latin typeface="Aptos"/>
              </a:rPr>
              <a:t>•  Reactive tools do not explain behavioral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057400"/>
            <a:ext cx="5559552" cy="3611880"/>
          </a:xfrm>
          <a:prstGeom prst="roundRect">
            <a:avLst>
              <a:gd name="adj" fmla="val 12000"/>
            </a:avLst>
          </a:prstGeom>
          <a:solidFill>
            <a:srgbClr val="263B2C"/>
          </a:solidFill>
          <a:ln w="12700">
            <a:solidFill>
              <a:srgbClr val="31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235915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A8C9B1"/>
                </a:solidFill>
                <a:latin typeface="Aptos"/>
              </a:rPr>
              <a:t>RansomShield 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852928"/>
            <a:ext cx="457200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F2F0E9"/>
                </a:solidFill>
                <a:latin typeface="Aptos"/>
              </a:rPr>
              <a:t>•  Observe file, process, CPU, and memory signals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F2F0E9"/>
                </a:solidFill>
                <a:latin typeface="Aptos"/>
              </a:rPr>
              <a:t>•  Preserve event evidence and calculated risk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F2F0E9"/>
                </a:solidFill>
                <a:latin typeface="Aptos"/>
              </a:rPr>
              <a:t>•  Provide clear dashboard status and alerts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F2F0E9"/>
                </a:solidFill>
                <a:latin typeface="Aptos"/>
              </a:rPr>
              <a:t>•  Progress toward temporal ML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RANSOMSHIELD  /  CURRENT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2F0E9"/>
                </a:solidFill>
                <a:latin typeface="Aptos Display"/>
              </a:rPr>
              <a:t>Scope aligned with the current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AFA2"/>
                </a:solidFill>
                <a:latin typeface="Aptos"/>
              </a:rPr>
              <a:t>Completed functions are separated from planned research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9AFA2"/>
                </a:solidFill>
                <a:latin typeface="Aptos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783080"/>
            <a:ext cx="10908792" cy="0"/>
          </a:xfrm>
          <a:prstGeom prst="line">
            <a:avLst/>
          </a:prstGeom>
          <a:ln w="12700">
            <a:solidFill>
              <a:srgbClr val="363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011680"/>
            <a:ext cx="3337560" cy="388620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3337560" cy="91440"/>
          </a:xfrm>
          <a:prstGeom prst="rect">
            <a:avLst/>
          </a:prstGeom>
          <a:solidFill>
            <a:srgbClr val="A8C9B1"/>
          </a:solidFill>
          <a:ln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A8C9B1"/>
                </a:solidFill>
                <a:latin typeface="Aptos"/>
              </a:rPr>
              <a:t>Completed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269748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A9AFA2"/>
                </a:solidFill>
                <a:latin typeface="Aptos"/>
              </a:rPr>
              <a:t>•  Structured Flask application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A9AFA2"/>
                </a:solidFill>
                <a:latin typeface="Aptos"/>
              </a:rPr>
              <a:t>•  Secure user authentication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A9AFA2"/>
                </a:solidFill>
                <a:latin typeface="Aptos"/>
              </a:rPr>
              <a:t>•  Protected dashboard and APIs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A9AFA2"/>
                </a:solidFill>
                <a:latin typeface="Aptos"/>
              </a:rPr>
              <a:t>•  Live resource metrics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A9AFA2"/>
                </a:solidFill>
                <a:latin typeface="Aptos"/>
              </a:rPr>
              <a:t>•  Safe-folder event monitoring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A9AFA2"/>
                </a:solidFill>
                <a:latin typeface="Aptos"/>
              </a:rPr>
              <a:t>•  Persisted alerts and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011680"/>
            <a:ext cx="3337560" cy="388620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011680"/>
            <a:ext cx="3337560" cy="91440"/>
          </a:xfrm>
          <a:prstGeom prst="rect">
            <a:avLst/>
          </a:prstGeom>
          <a:solidFill>
            <a:srgbClr val="D8A45C"/>
          </a:solidFill>
          <a:ln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233172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D8A45C"/>
                </a:solidFill>
                <a:latin typeface="Aptos"/>
              </a:rPr>
              <a:t>Current detector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788920"/>
            <a:ext cx="269748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A9AFA2"/>
                </a:solidFill>
                <a:latin typeface="Aptos"/>
              </a:rPr>
              <a:t>•  Explainable heuristic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A9AFA2"/>
                </a:solidFill>
                <a:latin typeface="Aptos"/>
              </a:rPr>
              <a:t>•  Two-second polling loop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A9AFA2"/>
                </a:solidFill>
                <a:latin typeface="Aptos"/>
              </a:rPr>
              <a:t>•  File snapshot comparison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A9AFA2"/>
                </a:solidFill>
                <a:latin typeface="Aptos"/>
              </a:rPr>
              <a:t>•  Risk score capped at 100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A9AFA2"/>
                </a:solidFill>
                <a:latin typeface="Aptos"/>
              </a:rPr>
              <a:t>•  Safe demonstration workflow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A9AFA2"/>
                </a:solidFill>
                <a:latin typeface="Aptos"/>
              </a:rPr>
              <a:t>•  No malware execution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11680"/>
            <a:ext cx="3337560" cy="388620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011680"/>
            <a:ext cx="3337560" cy="91440"/>
          </a:xfrm>
          <a:prstGeom prst="rect">
            <a:avLst/>
          </a:prstGeom>
          <a:solidFill>
            <a:srgbClr val="A8C9B1"/>
          </a:solidFill>
          <a:ln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33172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A8C9B1"/>
                </a:solidFill>
                <a:latin typeface="Aptos"/>
              </a:rPr>
              <a:t>Planned 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788920"/>
            <a:ext cx="269748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A9AFA2"/>
                </a:solidFill>
                <a:latin typeface="Aptos"/>
              </a:rPr>
              <a:t>•  Dataset and labels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A9AFA2"/>
                </a:solidFill>
                <a:latin typeface="Aptos"/>
              </a:rPr>
              <a:t>•  Feature windows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A9AFA2"/>
                </a:solidFill>
                <a:latin typeface="Aptos"/>
              </a:rPr>
              <a:t>•  TCN representation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A9AFA2"/>
                </a:solidFill>
                <a:latin typeface="Aptos"/>
              </a:rPr>
              <a:t>•  XGBoost classification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A9AFA2"/>
                </a:solidFill>
                <a:latin typeface="Aptos"/>
              </a:rPr>
              <a:t>•  Threshold calibration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A9AFA2"/>
                </a:solidFill>
                <a:latin typeface="Aptos"/>
              </a:rPr>
              <a:t>•  Formal model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RANSOMSHIELD  /  CURRENT 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2F0E9"/>
                </a:solidFill>
                <a:latin typeface="Aptos Display"/>
              </a:rPr>
              <a:t>Current end-to-end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AFA2"/>
                </a:solidFill>
                <a:latin typeface="Aptos"/>
              </a:rPr>
              <a:t>Each module has a bounded responsibility and can be replaced independently.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9AFA2"/>
                </a:solidFill>
                <a:latin typeface="Aptos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783080"/>
            <a:ext cx="10908792" cy="0"/>
          </a:xfrm>
          <a:prstGeom prst="line">
            <a:avLst/>
          </a:prstGeom>
          <a:ln w="12700">
            <a:solidFill>
              <a:srgbClr val="363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2468880"/>
            <a:ext cx="1874519" cy="246888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2633472"/>
            <a:ext cx="384048" cy="384048"/>
          </a:xfrm>
          <a:prstGeom prst="ellipse">
            <a:avLst/>
          </a:prstGeom>
          <a:solidFill>
            <a:srgbClr val="263B2C"/>
          </a:solidFill>
          <a:ln w="127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63347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8211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2F0E9"/>
                </a:solidFill>
                <a:latin typeface="Aptos"/>
              </a:rPr>
              <a:t>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11880"/>
            <a:ext cx="1508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CPU • memory</a:t>
            </a:r>
            <a:br/>
            <a:r>
              <a:t>process count</a:t>
            </a:r>
            <a:br/>
            <a:r>
              <a:t>file snapshots</a:t>
            </a:r>
          </a:p>
        </p:txBody>
      </p:sp>
      <p:sp>
        <p:nvSpPr>
          <p:cNvPr id="12" name="Chevron 11"/>
          <p:cNvSpPr/>
          <p:nvPr/>
        </p:nvSpPr>
        <p:spPr>
          <a:xfrm>
            <a:off x="2468880" y="3502152"/>
            <a:ext cx="256032" cy="384048"/>
          </a:xfrm>
          <a:prstGeom prst="chevron">
            <a:avLst/>
          </a:prstGeom>
          <a:solidFill>
            <a:srgbClr val="A8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34640" y="2468880"/>
            <a:ext cx="1874519" cy="246888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99232" y="2633472"/>
            <a:ext cx="384048" cy="384048"/>
          </a:xfrm>
          <a:prstGeom prst="ellipse">
            <a:avLst/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9232" y="263347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18211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2F0E9"/>
                </a:solidFill>
                <a:latin typeface="Aptos"/>
              </a:rPr>
              <a:t>Monitor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611880"/>
            <a:ext cx="1508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Background thread</a:t>
            </a:r>
            <a:br/>
            <a:r>
              <a:t>2-second cycle</a:t>
            </a:r>
            <a:br/>
            <a:r>
              <a:t>safe directory</a:t>
            </a:r>
          </a:p>
        </p:txBody>
      </p:sp>
      <p:sp>
        <p:nvSpPr>
          <p:cNvPr id="18" name="Chevron 17"/>
          <p:cNvSpPr/>
          <p:nvPr/>
        </p:nvSpPr>
        <p:spPr>
          <a:xfrm>
            <a:off x="4800600" y="3502152"/>
            <a:ext cx="256032" cy="384048"/>
          </a:xfrm>
          <a:prstGeom prst="chevron">
            <a:avLst/>
          </a:prstGeom>
          <a:solidFill>
            <a:srgbClr val="A8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66360" y="2468880"/>
            <a:ext cx="1874519" cy="246888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30952" y="2633472"/>
            <a:ext cx="384048" cy="384048"/>
          </a:xfrm>
          <a:prstGeom prst="ellipse">
            <a:avLst/>
          </a:prstGeom>
          <a:solidFill>
            <a:srgbClr val="263B2C"/>
          </a:solidFill>
          <a:ln w="127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0952" y="263347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18211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2F0E9"/>
                </a:solidFill>
                <a:latin typeface="Aptos"/>
              </a:rPr>
              <a:t>Risk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611880"/>
            <a:ext cx="1508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Snapshot diff</a:t>
            </a:r>
            <a:br/>
            <a:r>
              <a:t>transparent score</a:t>
            </a:r>
            <a:br/>
            <a:r>
              <a:t>alert threshold</a:t>
            </a:r>
          </a:p>
        </p:txBody>
      </p:sp>
      <p:sp>
        <p:nvSpPr>
          <p:cNvPr id="24" name="Chevron 23"/>
          <p:cNvSpPr/>
          <p:nvPr/>
        </p:nvSpPr>
        <p:spPr>
          <a:xfrm>
            <a:off x="7132320" y="3502152"/>
            <a:ext cx="256032" cy="384048"/>
          </a:xfrm>
          <a:prstGeom prst="chevron">
            <a:avLst/>
          </a:prstGeom>
          <a:solidFill>
            <a:srgbClr val="A8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98079" y="2468880"/>
            <a:ext cx="1874519" cy="246888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62671" y="2633472"/>
            <a:ext cx="384048" cy="384048"/>
          </a:xfrm>
          <a:prstGeom prst="ellipse">
            <a:avLst/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62671" y="263347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59" y="318211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2F0E9"/>
                </a:solidFill>
                <a:latin typeface="Aptos"/>
              </a:rPr>
              <a:t>Flask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59" y="3611880"/>
            <a:ext cx="1508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Protected JSON</a:t>
            </a:r>
            <a:br/>
            <a:r>
              <a:t>start / stop / demo</a:t>
            </a:r>
            <a:br/>
            <a:r>
              <a:t>events / alerts</a:t>
            </a:r>
          </a:p>
        </p:txBody>
      </p:sp>
      <p:sp>
        <p:nvSpPr>
          <p:cNvPr id="30" name="Chevron 29"/>
          <p:cNvSpPr/>
          <p:nvPr/>
        </p:nvSpPr>
        <p:spPr>
          <a:xfrm>
            <a:off x="9464040" y="3502152"/>
            <a:ext cx="256032" cy="384048"/>
          </a:xfrm>
          <a:prstGeom prst="chevron">
            <a:avLst/>
          </a:prstGeom>
          <a:solidFill>
            <a:srgbClr val="A8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829800" y="2468880"/>
            <a:ext cx="1874519" cy="246888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94392" y="2633472"/>
            <a:ext cx="384048" cy="384048"/>
          </a:xfrm>
          <a:prstGeom prst="ellipse">
            <a:avLst/>
          </a:prstGeom>
          <a:solidFill>
            <a:srgbClr val="263B2C"/>
          </a:solidFill>
          <a:ln w="127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94392" y="263347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2F0E9"/>
                </a:solidFill>
                <a:latin typeface="Aptos"/>
              </a:rPr>
              <a:t>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3611880"/>
            <a:ext cx="1508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Live metrics</a:t>
            </a:r>
            <a:br/>
            <a:r>
              <a:t>event feed</a:t>
            </a:r>
            <a:br/>
            <a:r>
              <a:t>alert review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20440" y="5257800"/>
            <a:ext cx="5166360" cy="594360"/>
          </a:xfrm>
          <a:prstGeom prst="roundRect">
            <a:avLst>
              <a:gd name="adj" fmla="val 12000"/>
            </a:avLst>
          </a:prstGeom>
          <a:solidFill>
            <a:srgbClr val="242920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75887" y="53766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9AFA2"/>
                </a:solidFill>
                <a:latin typeface="Aptos"/>
              </a:rPr>
              <a:t>SQLite persistence  →  users  •  monitoring_events  •  alerts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08192" y="4937760"/>
            <a:ext cx="0" cy="320040"/>
          </a:xfrm>
          <a:prstGeom prst="line">
            <a:avLst/>
          </a:prstGeom>
          <a:ln w="19050">
            <a:solidFill>
              <a:srgbClr val="A8C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0080" y="649224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RANSOMSHIELD  /  CURRENT IMPLEMENTATION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APPLICATION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2F0E9"/>
                </a:solidFill>
                <a:latin typeface="Aptos Display"/>
              </a:rPr>
              <a:t>A modular Flask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AFA2"/>
                </a:solidFill>
                <a:latin typeface="Aptos"/>
              </a:rPr>
              <a:t>Blueprints, extensions, models, services, and templates remain clearly separated.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9AFA2"/>
                </a:solidFill>
                <a:latin typeface="Aptos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783080"/>
            <a:ext cx="10908792" cy="0"/>
          </a:xfrm>
          <a:prstGeom prst="line">
            <a:avLst/>
          </a:prstGeom>
          <a:ln w="12700">
            <a:solidFill>
              <a:srgbClr val="363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057400"/>
            <a:ext cx="2606040" cy="338328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54864" cy="3383280"/>
          </a:xfrm>
          <a:prstGeom prst="rect">
            <a:avLst/>
          </a:prstGeom>
          <a:solidFill>
            <a:srgbClr val="A8C9B1"/>
          </a:solidFill>
          <a:ln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313432"/>
            <a:ext cx="502920" cy="502920"/>
          </a:xfrm>
          <a:prstGeom prst="ellipse">
            <a:avLst/>
          </a:prstGeom>
          <a:solidFill>
            <a:srgbClr val="263B2C"/>
          </a:solidFill>
          <a:ln w="127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1343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A8C9B1"/>
                </a:solidFill>
                <a:latin typeface="Aptos"/>
              </a:rPr>
              <a:t>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A8C9B1"/>
                </a:solidFill>
                <a:latin typeface="Aptos"/>
              </a:rPr>
              <a:t>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64408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2F0E9"/>
                </a:solidFill>
                <a:latin typeface="Aptos"/>
              </a:rPr>
              <a:t>Templates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39"/>
            <a:ext cx="2057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A9AFA2"/>
                </a:solidFill>
                <a:latin typeface="Aptos"/>
              </a:rPr>
              <a:t>base.html</a:t>
            </a:r>
            <a:br/>
            <a:r>
              <a:t>index.html</a:t>
            </a:r>
            <a:br/>
            <a:r>
              <a:t>signin.html</a:t>
            </a:r>
            <a:br/>
            <a:r>
              <a:t>signup.html</a:t>
            </a:r>
            <a:br/>
            <a:r>
              <a:t>dashboard.html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2057400"/>
            <a:ext cx="2606040" cy="338328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01568" y="2057400"/>
            <a:ext cx="54864" cy="3383280"/>
          </a:xfrm>
          <a:prstGeom prst="rect">
            <a:avLst/>
          </a:prstGeom>
          <a:solidFill>
            <a:srgbClr val="D8A45C"/>
          </a:solidFill>
          <a:ln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2313432"/>
            <a:ext cx="502920" cy="502920"/>
          </a:xfrm>
          <a:prstGeom prst="ellipse">
            <a:avLst/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31343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D8A45C"/>
                </a:solidFill>
                <a:latin typeface="Aptos"/>
              </a:rPr>
              <a:t>BP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8" y="297180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D8A45C"/>
                </a:solidFill>
                <a:latin typeface="Aptos"/>
              </a:rPr>
              <a:t>ROUTING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8" y="3264408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2F0E9"/>
                </a:solidFill>
                <a:latin typeface="Aptos"/>
              </a:rPr>
              <a:t>Blueprints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3749039"/>
            <a:ext cx="2057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A9AFA2"/>
                </a:solidFill>
                <a:latin typeface="Aptos"/>
              </a:rPr>
              <a:t>main routes</a:t>
            </a:r>
            <a:br/>
            <a:r>
              <a:t>auth routes</a:t>
            </a:r>
            <a:br/>
            <a:r>
              <a:t>protected API</a:t>
            </a:r>
            <a:br/>
            <a:r>
              <a:t>safe redirects</a:t>
            </a:r>
            <a:br/>
            <a:r>
              <a:t>JSON responses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2057400"/>
            <a:ext cx="2606040" cy="338328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2057400"/>
            <a:ext cx="54864" cy="3383280"/>
          </a:xfrm>
          <a:prstGeom prst="rect">
            <a:avLst/>
          </a:prstGeom>
          <a:solidFill>
            <a:srgbClr val="A8C9B1"/>
          </a:solidFill>
          <a:ln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19088" y="2313432"/>
            <a:ext cx="502920" cy="502920"/>
          </a:xfrm>
          <a:prstGeom prst="ellipse">
            <a:avLst/>
          </a:prstGeom>
          <a:solidFill>
            <a:srgbClr val="263B2C"/>
          </a:solidFill>
          <a:ln w="127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231343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A8C9B1"/>
                </a:solidFill>
                <a:latin typeface="Aptos"/>
              </a:rPr>
              <a:t>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97180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A8C9B1"/>
                </a:solidFill>
                <a:latin typeface="Aptos"/>
              </a:rPr>
              <a:t>BUSINESS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3264408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2F0E9"/>
                </a:solidFill>
                <a:latin typeface="Aptos"/>
              </a:rPr>
              <a:t>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749039"/>
            <a:ext cx="2057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A9AFA2"/>
                </a:solidFill>
                <a:latin typeface="Aptos"/>
              </a:rPr>
              <a:t>monitor thread</a:t>
            </a:r>
            <a:br/>
            <a:r>
              <a:t>resource metrics</a:t>
            </a:r>
            <a:br/>
            <a:r>
              <a:t>file snapshots</a:t>
            </a:r>
            <a:br/>
            <a:r>
              <a:t>risk calculation</a:t>
            </a:r>
            <a:br/>
            <a:r>
              <a:t>safe demo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24544" y="2057400"/>
            <a:ext cx="2606040" cy="338328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24544" y="2057400"/>
            <a:ext cx="54864" cy="3383280"/>
          </a:xfrm>
          <a:prstGeom prst="rect">
            <a:avLst/>
          </a:prstGeom>
          <a:solidFill>
            <a:srgbClr val="D8A45C"/>
          </a:solidFill>
          <a:ln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80576" y="2313432"/>
            <a:ext cx="502920" cy="502920"/>
          </a:xfrm>
          <a:prstGeom prst="ellipse">
            <a:avLst/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231343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D8A45C"/>
                </a:solidFill>
                <a:latin typeface="Aptos"/>
              </a:rPr>
              <a:t>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8864" y="297180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D8A45C"/>
                </a:solidFill>
                <a:latin typeface="Aptos"/>
              </a:rPr>
              <a:t>PERSISTENCE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98864" y="3264408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2F0E9"/>
                </a:solidFill>
                <a:latin typeface="Aptos"/>
              </a:rPr>
              <a:t>SQLAlchemy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8864" y="3749039"/>
            <a:ext cx="2057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A9AFA2"/>
                </a:solidFill>
                <a:latin typeface="Aptos"/>
              </a:rPr>
              <a:t>User model</a:t>
            </a:r>
            <a:br/>
            <a:r>
              <a:t>monitor events</a:t>
            </a:r>
            <a:br/>
            <a:r>
              <a:t>alerts</a:t>
            </a:r>
            <a:br/>
            <a:r>
              <a:t>password hashes</a:t>
            </a:r>
            <a:br/>
            <a:r>
              <a:t>timestamps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9224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RANSOMSHIELD  /  CURRENT IMPLEMENTATION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CODE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2F0E9"/>
                </a:solidFill>
                <a:latin typeface="Aptos Display"/>
              </a:rPr>
              <a:t>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AFA2"/>
                </a:solidFill>
                <a:latin typeface="Aptos"/>
              </a:rPr>
              <a:t>The implementation is small enough to understand and modular enough to extend.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9AFA2"/>
                </a:solidFill>
                <a:latin typeface="Aptos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783080"/>
            <a:ext cx="10908792" cy="0"/>
          </a:xfrm>
          <a:prstGeom prst="line">
            <a:avLst/>
          </a:prstGeom>
          <a:ln w="12700">
            <a:solidFill>
              <a:srgbClr val="363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011680"/>
            <a:ext cx="4983480" cy="3977639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438912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2F0E9"/>
                </a:solidFill>
                <a:latin typeface="Cascadia Mono"/>
              </a:rPr>
              <a:t>ransoware/</a:t>
            </a:r>
            <a:br/>
            <a:r>
              <a:t>├── run.py</a:t>
            </a:r>
            <a:br/>
            <a:r>
              <a:t>├── requirements.txt</a:t>
            </a:r>
            <a:br/>
            <a:r>
              <a:t>├── app/</a:t>
            </a:r>
            <a:br/>
            <a:r>
              <a:t>│   ├── __init__.py</a:t>
            </a:r>
            <a:br/>
            <a:r>
              <a:t>│   ├── auth.py  ·  api.py  ·  routes.py</a:t>
            </a:r>
            <a:br/>
            <a:r>
              <a:t>│   ├── models.py  ·  forms.py</a:t>
            </a:r>
            <a:br/>
            <a:r>
              <a:t>│   ├── monitor.py  ·  extensions.py</a:t>
            </a:r>
            <a:br/>
            <a:r>
              <a:t>│   └── templates/</a:t>
            </a:r>
            <a:br/>
            <a:r>
              <a:t>│       ├── base.html  ·  index.html</a:t>
            </a:r>
            <a:br/>
            <a:r>
              <a:t>│       ├── dashboard.html</a:t>
            </a:r>
            <a:br/>
            <a:r>
              <a:t>│       └── auth/signin.html  ·  signup.html</a:t>
            </a:r>
            <a:br/>
            <a:r>
              <a:t>└── instance/  ·  database + safe samples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312" y="2011680"/>
            <a:ext cx="2670048" cy="169164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25312" y="2011680"/>
            <a:ext cx="54864" cy="1691640"/>
          </a:xfrm>
          <a:prstGeom prst="rect">
            <a:avLst/>
          </a:prstGeom>
          <a:solidFill>
            <a:srgbClr val="A8C9B1"/>
          </a:solidFill>
          <a:ln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2" y="2340864"/>
            <a:ext cx="21214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A8C9B1"/>
                </a:solidFill>
                <a:latin typeface="Aptos"/>
              </a:rPr>
              <a:t>PRINCIPLE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2633472"/>
            <a:ext cx="2121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2F0E9"/>
                </a:solidFill>
                <a:latin typeface="Aptos"/>
              </a:rPr>
              <a:t>Separation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31181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A9AFA2"/>
                </a:solidFill>
                <a:latin typeface="Aptos"/>
              </a:rPr>
              <a:t>Routes do not contain monitoring internals.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011680"/>
            <a:ext cx="2670048" cy="169164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69680" y="2011680"/>
            <a:ext cx="54864" cy="1691640"/>
          </a:xfrm>
          <a:prstGeom prst="rect">
            <a:avLst/>
          </a:prstGeom>
          <a:solidFill>
            <a:srgbClr val="D8A45C"/>
          </a:solidFill>
          <a:ln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340864"/>
            <a:ext cx="21214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D8A45C"/>
                </a:solidFill>
                <a:latin typeface="Aptos"/>
              </a:rPr>
              <a:t>PRINCIPLE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633472"/>
            <a:ext cx="2121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2F0E9"/>
                </a:solidFill>
                <a:latin typeface="Aptos"/>
              </a:rPr>
              <a:t>Reuse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1181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A9AFA2"/>
                </a:solidFill>
                <a:latin typeface="Aptos"/>
              </a:rPr>
              <a:t>Shared navigation, theme, and security shell.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25312" y="3977639"/>
            <a:ext cx="2670048" cy="169164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25312" y="3977639"/>
            <a:ext cx="54864" cy="1691640"/>
          </a:xfrm>
          <a:prstGeom prst="rect">
            <a:avLst/>
          </a:prstGeom>
          <a:solidFill>
            <a:srgbClr val="D8A45C"/>
          </a:solidFill>
          <a:ln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4306824"/>
            <a:ext cx="21214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D8A45C"/>
                </a:solidFill>
                <a:latin typeface="Aptos"/>
              </a:rPr>
              <a:t>PRINCIPLE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4599432"/>
            <a:ext cx="2121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2F0E9"/>
                </a:solidFill>
                <a:latin typeface="Aptos"/>
              </a:rPr>
              <a:t>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5084064"/>
            <a:ext cx="212140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A9AFA2"/>
                </a:solidFill>
                <a:latin typeface="Aptos"/>
              </a:rPr>
              <a:t>Monitoring is restricted to one known folder.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3977639"/>
            <a:ext cx="2670048" cy="169164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3977639"/>
            <a:ext cx="54864" cy="1691640"/>
          </a:xfrm>
          <a:prstGeom prst="rect">
            <a:avLst/>
          </a:prstGeom>
          <a:solidFill>
            <a:srgbClr val="A8C9B1"/>
          </a:solidFill>
          <a:ln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4306824"/>
            <a:ext cx="21214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A8C9B1"/>
                </a:solidFill>
                <a:latin typeface="Aptos"/>
              </a:rPr>
              <a:t>PRINCIPLE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599432"/>
            <a:ext cx="2121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2F0E9"/>
                </a:solidFill>
                <a:latin typeface="Aptos"/>
              </a:rPr>
              <a:t>Extensibility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084064"/>
            <a:ext cx="212140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A9AFA2"/>
                </a:solidFill>
                <a:latin typeface="Aptos"/>
              </a:rPr>
              <a:t>The heuristic can later become ML inference.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9224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RANSOMSHIELD  /  CURRENT IMPLEMENTATION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2F0E9"/>
                </a:solidFill>
                <a:latin typeface="Aptos Display"/>
              </a:rPr>
              <a:t>Authentication and session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AFA2"/>
                </a:solidFill>
                <a:latin typeface="Aptos"/>
              </a:rPr>
              <a:t>The dashboard and monitoring APIs require an authenticated user session.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9AFA2"/>
                </a:solidFill>
                <a:latin typeface="Aptos"/>
              </a:rP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783080"/>
            <a:ext cx="10908792" cy="0"/>
          </a:xfrm>
          <a:prstGeom prst="line">
            <a:avLst/>
          </a:prstGeom>
          <a:ln w="12700">
            <a:solidFill>
              <a:srgbClr val="363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2194560"/>
            <a:ext cx="2240280" cy="224028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2359152"/>
            <a:ext cx="384048" cy="384048"/>
          </a:xfrm>
          <a:prstGeom prst="ellipse">
            <a:avLst/>
          </a:prstGeom>
          <a:solidFill>
            <a:srgbClr val="263B2C"/>
          </a:solidFill>
          <a:ln w="127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35915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07791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2F0E9"/>
                </a:solidFill>
                <a:latin typeface="Aptos"/>
              </a:rPr>
              <a:t>Sign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1874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Validate name, email, password</a:t>
            </a:r>
          </a:p>
        </p:txBody>
      </p:sp>
      <p:sp>
        <p:nvSpPr>
          <p:cNvPr id="12" name="Chevron 11"/>
          <p:cNvSpPr/>
          <p:nvPr/>
        </p:nvSpPr>
        <p:spPr>
          <a:xfrm>
            <a:off x="3017520" y="3154680"/>
            <a:ext cx="256032" cy="384048"/>
          </a:xfrm>
          <a:prstGeom prst="chevron">
            <a:avLst/>
          </a:prstGeom>
          <a:solidFill>
            <a:srgbClr val="A8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6120" y="2194560"/>
            <a:ext cx="2240280" cy="224028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10712" y="2359152"/>
            <a:ext cx="384048" cy="384048"/>
          </a:xfrm>
          <a:prstGeom prst="ellipse">
            <a:avLst/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235915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907791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2F0E9"/>
                </a:solidFill>
                <a:latin typeface="Aptos"/>
              </a:rPr>
              <a:t>Store safely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337560"/>
            <a:ext cx="1874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Normalize email and hash password</a:t>
            </a:r>
          </a:p>
        </p:txBody>
      </p:sp>
      <p:sp>
        <p:nvSpPr>
          <p:cNvPr id="18" name="Chevron 17"/>
          <p:cNvSpPr/>
          <p:nvPr/>
        </p:nvSpPr>
        <p:spPr>
          <a:xfrm>
            <a:off x="5577840" y="3154680"/>
            <a:ext cx="256032" cy="384048"/>
          </a:xfrm>
          <a:prstGeom prst="chevron">
            <a:avLst/>
          </a:prstGeom>
          <a:solidFill>
            <a:srgbClr val="A8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06440" y="2194560"/>
            <a:ext cx="2240280" cy="224028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71031" y="2359152"/>
            <a:ext cx="384048" cy="384048"/>
          </a:xfrm>
          <a:prstGeom prst="ellipse">
            <a:avLst/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1" y="235915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907791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2F0E9"/>
                </a:solidFill>
                <a:latin typeface="Aptos"/>
              </a:rPr>
              <a:t>Sign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337560"/>
            <a:ext cx="1874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Verify hash and create session</a:t>
            </a:r>
          </a:p>
        </p:txBody>
      </p:sp>
      <p:sp>
        <p:nvSpPr>
          <p:cNvPr id="24" name="Chevron 23"/>
          <p:cNvSpPr/>
          <p:nvPr/>
        </p:nvSpPr>
        <p:spPr>
          <a:xfrm>
            <a:off x="8138159" y="3154680"/>
            <a:ext cx="256032" cy="384048"/>
          </a:xfrm>
          <a:prstGeom prst="chevron">
            <a:avLst/>
          </a:prstGeom>
          <a:solidFill>
            <a:srgbClr val="A8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66760" y="2194560"/>
            <a:ext cx="2240280" cy="224028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31352" y="2359152"/>
            <a:ext cx="384048" cy="384048"/>
          </a:xfrm>
          <a:prstGeom prst="ellipse">
            <a:avLst/>
          </a:prstGeom>
          <a:solidFill>
            <a:srgbClr val="263B2C"/>
          </a:solidFill>
          <a:ln w="127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31352" y="235915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907791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2F0E9"/>
                </a:solidFill>
                <a:latin typeface="Aptos"/>
              </a:rPr>
              <a:t>Protected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337560"/>
            <a:ext cx="1874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Dashboard and API routes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4983480"/>
            <a:ext cx="1508760" cy="310896"/>
          </a:xfrm>
          <a:prstGeom prst="roundRect">
            <a:avLst>
              <a:gd name="adj" fmla="val 12000"/>
            </a:avLst>
          </a:prstGeom>
          <a:solidFill>
            <a:srgbClr val="263B2C"/>
          </a:solidFill>
          <a:ln w="12700">
            <a:solidFill>
              <a:srgbClr val="31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988052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PASSWORD HASHING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80360" y="4983480"/>
            <a:ext cx="1508760" cy="310896"/>
          </a:xfrm>
          <a:prstGeom prst="roundRect">
            <a:avLst>
              <a:gd name="adj" fmla="val 12000"/>
            </a:avLst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4988052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CSRF PROTECTED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4983480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263B2C"/>
          </a:solidFill>
          <a:ln w="12700">
            <a:solidFill>
              <a:srgbClr val="31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498805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SAFE REDIRECTS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4983480"/>
            <a:ext cx="1691640" cy="310896"/>
          </a:xfrm>
          <a:prstGeom prst="roundRect">
            <a:avLst>
              <a:gd name="adj" fmla="val 12000"/>
            </a:avLst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988052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HTTP-ONLY SESSION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0" y="4983480"/>
            <a:ext cx="1280160" cy="310896"/>
          </a:xfrm>
          <a:prstGeom prst="roundRect">
            <a:avLst>
              <a:gd name="adj" fmla="val 12000"/>
            </a:avLst>
          </a:prstGeom>
          <a:solidFill>
            <a:srgbClr val="263B2C"/>
          </a:solidFill>
          <a:ln w="12700">
            <a:solidFill>
              <a:srgbClr val="31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498805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POST LOGOUT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75520" y="4983480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0" y="498805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DUPLICATE CHECK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9224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RANSOMSHIELD  /  CURRENT IMPLEMENTATION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2F0E9"/>
                </a:solidFill>
                <a:latin typeface="Aptos Display"/>
              </a:rPr>
              <a:t>Live protected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AFA2"/>
                </a:solidFill>
                <a:latin typeface="Aptos"/>
              </a:rPr>
              <a:t>A visual control plane for the monitoring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9AFA2"/>
                </a:solidFill>
                <a:latin typeface="Aptos"/>
              </a:rP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783080"/>
            <a:ext cx="10908792" cy="0"/>
          </a:xfrm>
          <a:prstGeom prst="line">
            <a:avLst/>
          </a:prstGeom>
          <a:ln w="12700">
            <a:solidFill>
              <a:srgbClr val="363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993392"/>
            <a:ext cx="10908792" cy="3977639"/>
          </a:xfrm>
          <a:prstGeom prst="roundRect">
            <a:avLst>
              <a:gd name="adj" fmla="val 12000"/>
            </a:avLst>
          </a:prstGeom>
          <a:solidFill>
            <a:srgbClr val="242920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2F0E9"/>
                </a:solidFill>
                <a:latin typeface="Aptos"/>
              </a:rPr>
              <a:t>Welcome, authenticated 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267712"/>
            <a:ext cx="1371600" cy="310896"/>
          </a:xfrm>
          <a:prstGeom prst="roundRect">
            <a:avLst>
              <a:gd name="adj" fmla="val 12000"/>
            </a:avLst>
          </a:prstGeom>
          <a:solidFill>
            <a:srgbClr val="263B2C"/>
          </a:solidFill>
          <a:ln w="12700">
            <a:solidFill>
              <a:srgbClr val="31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272284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START MONITORING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42832" y="2267712"/>
            <a:ext cx="731520" cy="310896"/>
          </a:xfrm>
          <a:prstGeom prst="roundRect">
            <a:avLst>
              <a:gd name="adj" fmla="val 12000"/>
            </a:avLst>
          </a:prstGeom>
          <a:solidFill>
            <a:srgbClr val="292E25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42832" y="2272284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9AFA2"/>
                </a:solidFill>
                <a:latin typeface="Aptos"/>
              </a:rPr>
              <a:t>STOP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38944" y="2267712"/>
            <a:ext cx="1280160" cy="310896"/>
          </a:xfrm>
          <a:prstGeom prst="roundRect">
            <a:avLst>
              <a:gd name="adj" fmla="val 12000"/>
            </a:avLst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38944" y="227228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RUN SAFE DEMO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926080"/>
            <a:ext cx="2377440" cy="132588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108960"/>
            <a:ext cx="19751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MONITORING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401568"/>
            <a:ext cx="197510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F2F0E9"/>
                </a:solidFill>
                <a:latin typeface="Aptos"/>
              </a:rPr>
              <a:t>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913632"/>
            <a:ext cx="19751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A8C9B1"/>
                </a:solidFill>
                <a:latin typeface="Aptos"/>
              </a:rPr>
              <a:t>CONNECTED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3008" y="2926080"/>
            <a:ext cx="2377440" cy="132588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94176" y="3108960"/>
            <a:ext cx="19751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CPU USAGE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3401568"/>
            <a:ext cx="197510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F2F0E9"/>
                </a:solidFill>
                <a:latin typeface="Aptos"/>
              </a:rPr>
              <a:t>3.6%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4176" y="3913632"/>
            <a:ext cx="19751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D8A45C"/>
                </a:solidFill>
                <a:latin typeface="Aptos"/>
              </a:rPr>
              <a:t>HEURISTIC DEMO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71616" y="2926080"/>
            <a:ext cx="2377440" cy="132588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3" y="3108960"/>
            <a:ext cx="19751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BEHAVIOR EVENTS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3" y="3401568"/>
            <a:ext cx="197510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F2F0E9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3" y="3913632"/>
            <a:ext cx="19751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A8C9B1"/>
                </a:solidFill>
                <a:latin typeface="Aptos"/>
              </a:rPr>
              <a:t>PERSISTED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50224" y="2926080"/>
            <a:ext cx="2377440" cy="132588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51392" y="3108960"/>
            <a:ext cx="19751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ALERTS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392" y="3401568"/>
            <a:ext cx="197510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F2F0E9"/>
                </a:solidFill>
                <a:latin typeface="Apto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1392" y="3913632"/>
            <a:ext cx="19751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EF9388"/>
                </a:solidFill>
                <a:latin typeface="Aptos"/>
              </a:rPr>
              <a:t>REVIEW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526280"/>
            <a:ext cx="6995160" cy="105156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47365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D8A45C"/>
                </a:solidFill>
                <a:latin typeface="Aptos"/>
              </a:rPr>
              <a:t>FILE ACTIVITY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4992624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2F0E9"/>
                </a:solidFill>
                <a:latin typeface="Aptos"/>
              </a:rPr>
              <a:t>12 created • 0 modified • 0 deleted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4864608"/>
            <a:ext cx="1005840" cy="310896"/>
          </a:xfrm>
          <a:prstGeom prst="roundRect">
            <a:avLst>
              <a:gd name="adj" fmla="val 12000"/>
            </a:avLst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86918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84 / 100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4526280"/>
            <a:ext cx="2889504" cy="1051560"/>
          </a:xfrm>
          <a:prstGeom prst="roundRect">
            <a:avLst>
              <a:gd name="adj" fmla="val 12000"/>
            </a:avLst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47365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D8A45C"/>
                </a:solidFill>
                <a:latin typeface="Aptos"/>
              </a:rPr>
              <a:t>SAFE SCOPE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501091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F2F0E9"/>
                </a:solidFill>
                <a:latin typeface="Cascadia Mono"/>
              </a:rPr>
              <a:t>instance/monitor_samples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9224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RANSOMSHIELD  /  CURRENT IMPLEMENTATION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DETECTION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2F0E9"/>
                </a:solidFill>
                <a:latin typeface="Aptos Display"/>
              </a:rPr>
              <a:t>How the current monitor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AFA2"/>
                </a:solidFill>
                <a:latin typeface="Aptos"/>
              </a:rPr>
              <a:t>An explainable polling heuristic provides real behavior before the trained model is 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9AFA2"/>
                </a:solidFill>
                <a:latin typeface="Aptos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783080"/>
            <a:ext cx="10908792" cy="0"/>
          </a:xfrm>
          <a:prstGeom prst="line">
            <a:avLst/>
          </a:prstGeom>
          <a:ln w="12700">
            <a:solidFill>
              <a:srgbClr val="363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057400"/>
            <a:ext cx="2148840" cy="196596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1" y="2221992"/>
            <a:ext cx="384048" cy="384048"/>
          </a:xfrm>
          <a:prstGeom prst="ellipse">
            <a:avLst/>
          </a:prstGeom>
          <a:solidFill>
            <a:srgbClr val="263B2C"/>
          </a:solidFill>
          <a:ln w="127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2219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770632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2F0E9"/>
                </a:solidFill>
                <a:latin typeface="Aptos"/>
              </a:rPr>
              <a:t>Snapshot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200400"/>
            <a:ext cx="1783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Record relative path, modified time, and size.</a:t>
            </a:r>
          </a:p>
        </p:txBody>
      </p:sp>
      <p:sp>
        <p:nvSpPr>
          <p:cNvPr id="12" name="Chevron 11"/>
          <p:cNvSpPr/>
          <p:nvPr/>
        </p:nvSpPr>
        <p:spPr>
          <a:xfrm>
            <a:off x="2880360" y="2834640"/>
            <a:ext cx="256032" cy="384048"/>
          </a:xfrm>
          <a:prstGeom prst="chevron">
            <a:avLst/>
          </a:prstGeom>
          <a:solidFill>
            <a:srgbClr val="A8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27248" y="2057400"/>
            <a:ext cx="2148840" cy="196596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91840" y="2221992"/>
            <a:ext cx="384048" cy="384048"/>
          </a:xfrm>
          <a:prstGeom prst="ellipse">
            <a:avLst/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2219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2770632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2F0E9"/>
                </a:solidFill>
                <a:latin typeface="Aptos"/>
              </a:rPr>
              <a:t>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3200400"/>
            <a:ext cx="1783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Find created, modified, and deleted files.</a:t>
            </a:r>
          </a:p>
        </p:txBody>
      </p:sp>
      <p:sp>
        <p:nvSpPr>
          <p:cNvPr id="18" name="Chevron 17"/>
          <p:cNvSpPr/>
          <p:nvPr/>
        </p:nvSpPr>
        <p:spPr>
          <a:xfrm>
            <a:off x="5367528" y="2834640"/>
            <a:ext cx="256032" cy="384048"/>
          </a:xfrm>
          <a:prstGeom prst="chevron">
            <a:avLst/>
          </a:prstGeom>
          <a:solidFill>
            <a:srgbClr val="A8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14416" y="2057400"/>
            <a:ext cx="2148840" cy="196596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79007" y="2221992"/>
            <a:ext cx="384048" cy="384048"/>
          </a:xfrm>
          <a:prstGeom prst="ellipse">
            <a:avLst/>
          </a:prstGeom>
          <a:solidFill>
            <a:srgbClr val="263B2C"/>
          </a:solidFill>
          <a:ln w="127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79007" y="22219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7296" y="2770632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2F0E9"/>
                </a:solidFill>
                <a:latin typeface="Aptos"/>
              </a:rPr>
              <a:t>Measure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7296" y="3200400"/>
            <a:ext cx="1783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Read CPU, memory, and process count.</a:t>
            </a:r>
          </a:p>
        </p:txBody>
      </p:sp>
      <p:sp>
        <p:nvSpPr>
          <p:cNvPr id="24" name="Chevron 23"/>
          <p:cNvSpPr/>
          <p:nvPr/>
        </p:nvSpPr>
        <p:spPr>
          <a:xfrm>
            <a:off x="7854696" y="2834640"/>
            <a:ext cx="256032" cy="384048"/>
          </a:xfrm>
          <a:prstGeom prst="chevron">
            <a:avLst/>
          </a:prstGeom>
          <a:solidFill>
            <a:srgbClr val="A8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01583" y="2057400"/>
            <a:ext cx="2148840" cy="196596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66175" y="2221992"/>
            <a:ext cx="384048" cy="384048"/>
          </a:xfrm>
          <a:prstGeom prst="ellipse">
            <a:avLst/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5" y="22219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3" y="2770632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2F0E9"/>
                </a:solidFill>
                <a:latin typeface="Aptos"/>
              </a:rPr>
              <a:t>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3" y="3200400"/>
            <a:ext cx="1783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Calculate risk and persist evidence.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" y="4434840"/>
            <a:ext cx="9738360" cy="109728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4645152"/>
            <a:ext cx="9098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A8C9B1"/>
                </a:solidFill>
                <a:latin typeface="Cascadia Mono"/>
              </a:rPr>
              <a:t>risk = 7 × file changes  +  8 × deletions  +  CPU flag  +  memory flag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074920"/>
            <a:ext cx="9098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9AFA2"/>
                </a:solidFill>
                <a:latin typeface="Aptos"/>
              </a:rPr>
              <a:t>CPU flag = 15 at ≥90%   •   memory flag = 10 at ≥92%   •   score capped at 100   •   alert at ≥60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9224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RANSOMSHIELD  /  CURRENT IMPLEMENTATION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2F0E9"/>
                </a:solidFill>
                <a:latin typeface="Aptos Display"/>
              </a:rPr>
              <a:t>Safe end-to-end detection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AFA2"/>
                </a:solidFill>
                <a:latin typeface="Aptos"/>
              </a:rPr>
              <a:t>The test uses harmless text files and never runs malware.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9AFA2"/>
                </a:solidFill>
                <a:latin typeface="Aptos"/>
              </a:rP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783080"/>
            <a:ext cx="10908792" cy="0"/>
          </a:xfrm>
          <a:prstGeom prst="line">
            <a:avLst/>
          </a:prstGeom>
          <a:ln w="12700">
            <a:solidFill>
              <a:srgbClr val="363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2286000"/>
            <a:ext cx="1874519" cy="237744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2450592"/>
            <a:ext cx="384048" cy="384048"/>
          </a:xfrm>
          <a:prstGeom prst="ellipse">
            <a:avLst/>
          </a:prstGeom>
          <a:solidFill>
            <a:srgbClr val="263B2C"/>
          </a:solidFill>
          <a:ln w="127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4505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923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2F0E9"/>
                </a:solidFill>
                <a:latin typeface="Aptos"/>
              </a:rPr>
              <a:t>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User starts the background monitor.</a:t>
            </a:r>
          </a:p>
        </p:txBody>
      </p:sp>
      <p:sp>
        <p:nvSpPr>
          <p:cNvPr id="12" name="Chevron 11"/>
          <p:cNvSpPr/>
          <p:nvPr/>
        </p:nvSpPr>
        <p:spPr>
          <a:xfrm>
            <a:off x="2487168" y="3291840"/>
            <a:ext cx="219456" cy="384048"/>
          </a:xfrm>
          <a:prstGeom prst="chevron">
            <a:avLst/>
          </a:prstGeom>
          <a:solidFill>
            <a:srgbClr val="A8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34640" y="2286000"/>
            <a:ext cx="1874519" cy="237744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99232" y="2450592"/>
            <a:ext cx="384048" cy="384048"/>
          </a:xfrm>
          <a:prstGeom prst="ellipse">
            <a:avLst/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9232" y="24505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99923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2F0E9"/>
                </a:solidFill>
                <a:latin typeface="Aptos"/>
              </a:rPr>
              <a:t>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429000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App creates 12 harmless .txt files.</a:t>
            </a:r>
          </a:p>
        </p:txBody>
      </p:sp>
      <p:sp>
        <p:nvSpPr>
          <p:cNvPr id="18" name="Chevron 17"/>
          <p:cNvSpPr/>
          <p:nvPr/>
        </p:nvSpPr>
        <p:spPr>
          <a:xfrm>
            <a:off x="4773168" y="3291840"/>
            <a:ext cx="219456" cy="384048"/>
          </a:xfrm>
          <a:prstGeom prst="chevron">
            <a:avLst/>
          </a:prstGeom>
          <a:solidFill>
            <a:srgbClr val="A8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0" y="2286000"/>
            <a:ext cx="1874519" cy="237744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85231" y="2450592"/>
            <a:ext cx="384048" cy="384048"/>
          </a:xfrm>
          <a:prstGeom prst="ellipse">
            <a:avLst/>
          </a:prstGeom>
          <a:solidFill>
            <a:srgbClr val="263B2C"/>
          </a:solidFill>
          <a:ln w="127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1" y="24505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99923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2F0E9"/>
                </a:solidFill>
                <a:latin typeface="Aptos"/>
              </a:rPr>
              <a:t>Detect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429000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Next polling cycle sees 12 new files.</a:t>
            </a:r>
          </a:p>
        </p:txBody>
      </p:sp>
      <p:sp>
        <p:nvSpPr>
          <p:cNvPr id="24" name="Chevron 23"/>
          <p:cNvSpPr/>
          <p:nvPr/>
        </p:nvSpPr>
        <p:spPr>
          <a:xfrm>
            <a:off x="7059168" y="3291840"/>
            <a:ext cx="219456" cy="384048"/>
          </a:xfrm>
          <a:prstGeom prst="chevron">
            <a:avLst/>
          </a:prstGeom>
          <a:solidFill>
            <a:srgbClr val="A8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2286000"/>
            <a:ext cx="1874519" cy="237744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71231" y="2450592"/>
            <a:ext cx="384048" cy="384048"/>
          </a:xfrm>
          <a:prstGeom prst="ellipse">
            <a:avLst/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71231" y="24505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299923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2F0E9"/>
                </a:solidFill>
                <a:latin typeface="Aptos"/>
              </a:rPr>
              <a:t>Alert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19" y="3429000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Risk 84 creates a medium alert.</a:t>
            </a:r>
          </a:p>
        </p:txBody>
      </p:sp>
      <p:sp>
        <p:nvSpPr>
          <p:cNvPr id="30" name="Chevron 29"/>
          <p:cNvSpPr/>
          <p:nvPr/>
        </p:nvSpPr>
        <p:spPr>
          <a:xfrm>
            <a:off x="9345167" y="3291840"/>
            <a:ext cx="219456" cy="384048"/>
          </a:xfrm>
          <a:prstGeom prst="chevron">
            <a:avLst/>
          </a:prstGeom>
          <a:solidFill>
            <a:srgbClr val="A8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92640" y="2286000"/>
            <a:ext cx="1874519" cy="237744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857232" y="2450592"/>
            <a:ext cx="384048" cy="384048"/>
          </a:xfrm>
          <a:prstGeom prst="ellipse">
            <a:avLst/>
          </a:prstGeom>
          <a:solidFill>
            <a:srgbClr val="263B2C"/>
          </a:solidFill>
          <a:ln w="127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57232" y="24505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19" y="299923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2F0E9"/>
                </a:solidFill>
                <a:latin typeface="Aptos"/>
              </a:rPr>
              <a:t>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19" y="3429000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User acknowledges the persisted alert.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80360" y="5029200"/>
            <a:ext cx="6446520" cy="566928"/>
          </a:xfrm>
          <a:prstGeom prst="roundRect">
            <a:avLst>
              <a:gd name="adj" fmla="val 12000"/>
            </a:avLst>
          </a:prstGeom>
          <a:solidFill>
            <a:srgbClr val="263B2C"/>
          </a:solidFill>
          <a:ln w="12700">
            <a:solidFill>
              <a:srgbClr val="31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63240" y="5184648"/>
            <a:ext cx="6080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A8C9B1"/>
                </a:solidFill>
                <a:latin typeface="Aptos"/>
              </a:rPr>
              <a:t>Validated result:  1 event  •  risk 84/100  •  medium alert  •  acknowledgement saved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RANSOMSHIELD  /  CURRENT IMPLEMENTATION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BACKEND 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2F0E9"/>
                </a:solidFill>
                <a:latin typeface="Aptos Display"/>
              </a:rPr>
              <a:t>Database and protected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AFA2"/>
                </a:solidFill>
                <a:latin typeface="Aptos"/>
              </a:rPr>
              <a:t>The dashboard reads JSON endpoints; all state-changing requests require login and CSRF protection.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9AFA2"/>
                </a:solidFill>
                <a:latin typeface="Aptos"/>
              </a:rP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783080"/>
            <a:ext cx="10908792" cy="0"/>
          </a:xfrm>
          <a:prstGeom prst="line">
            <a:avLst/>
          </a:prstGeom>
          <a:ln w="12700">
            <a:solidFill>
              <a:srgbClr val="363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011680"/>
            <a:ext cx="3657600" cy="388620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2F0E9"/>
                </a:solidFill>
                <a:latin typeface="Aptos"/>
              </a:rPr>
              <a:t>SQLite data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26080"/>
            <a:ext cx="3063240" cy="621792"/>
          </a:xfrm>
          <a:prstGeom prst="roundRect">
            <a:avLst>
              <a:gd name="adj" fmla="val 12000"/>
            </a:avLst>
          </a:prstGeom>
          <a:solidFill>
            <a:srgbClr val="242920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35808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A8C9B1"/>
                </a:solidFill>
                <a:latin typeface="Cascadia Mono"/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408"/>
            <a:ext cx="2606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A9AFA2"/>
                </a:solidFill>
                <a:latin typeface="Aptos"/>
              </a:rPr>
              <a:t>name • email • password hash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767328"/>
            <a:ext cx="3063240" cy="621792"/>
          </a:xfrm>
          <a:prstGeom prst="roundRect">
            <a:avLst>
              <a:gd name="adj" fmla="val 12000"/>
            </a:avLst>
          </a:prstGeom>
          <a:solidFill>
            <a:srgbClr val="242920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77056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8A45C"/>
                </a:solidFill>
                <a:latin typeface="Cascadia Mono"/>
              </a:rPr>
              <a:t>monitoring_events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05656"/>
            <a:ext cx="2606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A9AFA2"/>
                </a:solidFill>
                <a:latin typeface="Aptos"/>
              </a:rPr>
              <a:t>type • severity • details •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608576"/>
            <a:ext cx="3063240" cy="621792"/>
          </a:xfrm>
          <a:prstGeom prst="roundRect">
            <a:avLst>
              <a:gd name="adj" fmla="val 12000"/>
            </a:avLst>
          </a:prstGeom>
          <a:solidFill>
            <a:srgbClr val="242920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18304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F9388"/>
                </a:solidFill>
                <a:latin typeface="Cascadia Mono"/>
              </a:rPr>
              <a:t>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46904"/>
            <a:ext cx="2606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A9AFA2"/>
                </a:solidFill>
                <a:latin typeface="Aptos"/>
              </a:rPr>
              <a:t>title • severity • risk • reviewed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011680"/>
            <a:ext cx="6976872" cy="388620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8" y="230428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2F0E9"/>
                </a:solidFill>
                <a:latin typeface="Aptos"/>
              </a:rPr>
              <a:t>Protected endpoints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64608" y="2852928"/>
            <a:ext cx="594360" cy="310896"/>
          </a:xfrm>
          <a:prstGeom prst="roundRect">
            <a:avLst>
              <a:gd name="adj" fmla="val 12000"/>
            </a:avLst>
          </a:prstGeom>
          <a:solidFill>
            <a:srgbClr val="263B2C"/>
          </a:solidFill>
          <a:ln w="12700">
            <a:solidFill>
              <a:srgbClr val="31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4608" y="2857500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8C9B1"/>
                </a:solidFill>
                <a:latin typeface="Aptos"/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2898648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F2F0E9"/>
                </a:solidFill>
                <a:latin typeface="Cascadia Mono"/>
              </a:rPr>
              <a:t>/api/monitor/status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2898648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A9AFA2"/>
                </a:solidFill>
                <a:latin typeface="Aptos"/>
              </a:rPr>
              <a:t>metrics + counts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64608" y="3291840"/>
            <a:ext cx="594360" cy="310896"/>
          </a:xfrm>
          <a:prstGeom prst="roundRect">
            <a:avLst>
              <a:gd name="adj" fmla="val 12000"/>
            </a:avLst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8" y="3296412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D8A45C"/>
                </a:solidFill>
                <a:latin typeface="Aptos"/>
              </a:rPr>
              <a:t>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3337560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F2F0E9"/>
                </a:solidFill>
                <a:latin typeface="Cascadia Mono"/>
              </a:rPr>
              <a:t>/api/monitor/start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33375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A9AFA2"/>
                </a:solidFill>
                <a:latin typeface="Aptos"/>
              </a:rPr>
              <a:t>launch service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64608" y="3730752"/>
            <a:ext cx="594360" cy="310896"/>
          </a:xfrm>
          <a:prstGeom prst="roundRect">
            <a:avLst>
              <a:gd name="adj" fmla="val 12000"/>
            </a:avLst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4608" y="3735324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D8A45C"/>
                </a:solidFill>
                <a:latin typeface="Aptos"/>
              </a:rP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3776472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F2F0E9"/>
                </a:solidFill>
                <a:latin typeface="Cascadia Mono"/>
              </a:rPr>
              <a:t>/api/monitor/stop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08592" y="377647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A9AFA2"/>
                </a:solidFill>
                <a:latin typeface="Aptos"/>
              </a:rPr>
              <a:t>stop service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64608" y="4169664"/>
            <a:ext cx="594360" cy="310896"/>
          </a:xfrm>
          <a:prstGeom prst="roundRect">
            <a:avLst>
              <a:gd name="adj" fmla="val 12000"/>
            </a:avLst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64608" y="417423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D8A45C"/>
                </a:solidFill>
                <a:latin typeface="Aptos"/>
              </a:rP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3560" y="4215384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F2F0E9"/>
                </a:solidFill>
                <a:latin typeface="Cascadia Mono"/>
              </a:rPr>
              <a:t>/api/monitor/demo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8592" y="421538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A9AFA2"/>
                </a:solidFill>
                <a:latin typeface="Aptos"/>
              </a:rPr>
              <a:t>safe event test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64608" y="4608576"/>
            <a:ext cx="594360" cy="310896"/>
          </a:xfrm>
          <a:prstGeom prst="roundRect">
            <a:avLst>
              <a:gd name="adj" fmla="val 12000"/>
            </a:avLst>
          </a:prstGeom>
          <a:solidFill>
            <a:srgbClr val="263B2C"/>
          </a:solidFill>
          <a:ln w="12700">
            <a:solidFill>
              <a:srgbClr val="31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64608" y="4613148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8C9B1"/>
                </a:solidFill>
                <a:latin typeface="Aptos"/>
              </a:rPr>
              <a:t>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3560" y="4654296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F2F0E9"/>
                </a:solidFill>
                <a:latin typeface="Cascadia Mono"/>
              </a:rPr>
              <a:t>/api/events  •  /api/alerts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4654296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A9AFA2"/>
                </a:solidFill>
                <a:latin typeface="Aptos"/>
              </a:rPr>
              <a:t>recent records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64608" y="5047488"/>
            <a:ext cx="594360" cy="310896"/>
          </a:xfrm>
          <a:prstGeom prst="roundRect">
            <a:avLst>
              <a:gd name="adj" fmla="val 12000"/>
            </a:avLst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64608" y="5052059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D8A45C"/>
                </a:solidFill>
                <a:latin typeface="Aptos"/>
              </a:rPr>
              <a:t>POST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5093207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F2F0E9"/>
                </a:solidFill>
                <a:latin typeface="Cascadia Mono"/>
              </a:rPr>
              <a:t>/api/alerts/{id}/acknowledge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8592" y="5093207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A9AFA2"/>
                </a:solidFill>
                <a:latin typeface="Aptos"/>
              </a:rPr>
              <a:t>review alert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9224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RANSOMSHIELD  /  CURRENT IMPLEMENTATION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2F0E9"/>
                </a:solidFill>
                <a:latin typeface="Aptos Display"/>
              </a:rPr>
              <a:t>Implemented flows tested successfully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AFA2"/>
                </a:solidFill>
                <a:latin typeface="Aptos"/>
              </a:rPr>
              <a:t>Automated Flask test-client checks exercised both authentication and monitoring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9AFA2"/>
                </a:solidFill>
                <a:latin typeface="Aptos"/>
              </a:rPr>
              <a:t>13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783080"/>
            <a:ext cx="10908792" cy="0"/>
          </a:xfrm>
          <a:prstGeom prst="line">
            <a:avLst/>
          </a:prstGeom>
          <a:ln w="12700">
            <a:solidFill>
              <a:srgbClr val="363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993392"/>
            <a:ext cx="10908792" cy="512064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2093976"/>
            <a:ext cx="310896" cy="310896"/>
          </a:xfrm>
          <a:prstGeom prst="ellipse">
            <a:avLst/>
          </a:prstGeom>
          <a:solidFill>
            <a:srgbClr val="263B2C"/>
          </a:solidFill>
          <a:ln w="12700">
            <a:solidFill>
              <a:srgbClr val="31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7568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1305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F0E9"/>
                </a:solidFill>
                <a:latin typeface="Aptos"/>
              </a:rPr>
              <a:t>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130552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9AFA2"/>
                </a:solidFill>
                <a:latin typeface="Aptos"/>
              </a:rPr>
              <a:t>Signup, normalized email, password hash, sign-in, bad-password rejection, logout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97312" y="213055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A8C9B1"/>
                </a:solidFill>
                <a:latin typeface="Aptos"/>
              </a:rPr>
              <a:t>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33472"/>
            <a:ext cx="10908792" cy="512064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2734056"/>
            <a:ext cx="310896" cy="310896"/>
          </a:xfrm>
          <a:prstGeom prst="ellipse">
            <a:avLst/>
          </a:prstGeom>
          <a:solidFill>
            <a:srgbClr val="263B2C"/>
          </a:solidFill>
          <a:ln w="12700">
            <a:solidFill>
              <a:srgbClr val="31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71576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77063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F0E9"/>
                </a:solidFill>
                <a:latin typeface="Aptos"/>
              </a:rPr>
              <a:t>Access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770632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9AFA2"/>
                </a:solidFill>
                <a:latin typeface="Aptos"/>
              </a:rPr>
              <a:t>Anonymous dashboard and monitoring API requests redirect to sign-in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97312" y="277063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A8C9B1"/>
                </a:solidFill>
                <a:latin typeface="Aptos"/>
              </a:rPr>
              <a:t>PASS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73552"/>
            <a:ext cx="10908792" cy="512064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" y="3374136"/>
            <a:ext cx="310896" cy="310896"/>
          </a:xfrm>
          <a:prstGeom prst="ellipse">
            <a:avLst/>
          </a:prstGeom>
          <a:solidFill>
            <a:srgbClr val="263B2C"/>
          </a:solidFill>
          <a:ln w="12700">
            <a:solidFill>
              <a:srgbClr val="31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35584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41071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F0E9"/>
                </a:solidFill>
                <a:latin typeface="Aptos"/>
              </a:rPr>
              <a:t>Request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410712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9AFA2"/>
                </a:solidFill>
                <a:latin typeface="Aptos"/>
              </a:rPr>
              <a:t>CSRF token required for forms and state-changing monitoring endpoints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97312" y="341071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A8C9B1"/>
                </a:solidFill>
                <a:latin typeface="Aptos"/>
              </a:rPr>
              <a:t>PASS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13631"/>
            <a:ext cx="10908792" cy="512064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1248" y="4014215"/>
            <a:ext cx="310896" cy="310896"/>
          </a:xfrm>
          <a:prstGeom prst="ellipse">
            <a:avLst/>
          </a:prstGeom>
          <a:solidFill>
            <a:srgbClr val="263B2C"/>
          </a:solidFill>
          <a:ln w="12700">
            <a:solidFill>
              <a:srgbClr val="31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3995927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4050791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F0E9"/>
                </a:solidFill>
                <a:latin typeface="Aptos"/>
              </a:rPr>
              <a:t>Redirect 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050791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9AFA2"/>
                </a:solidFill>
                <a:latin typeface="Aptos"/>
              </a:rPr>
              <a:t>External post-login redirect target rejected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97312" y="4050791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A8C9B1"/>
                </a:solidFill>
                <a:latin typeface="Aptos"/>
              </a:rPr>
              <a:t>PASS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553712"/>
            <a:ext cx="10908792" cy="512064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1248" y="4654296"/>
            <a:ext cx="310896" cy="310896"/>
          </a:xfrm>
          <a:prstGeom prst="ellipse">
            <a:avLst/>
          </a:prstGeom>
          <a:solidFill>
            <a:srgbClr val="263B2C"/>
          </a:solidFill>
          <a:ln w="12700">
            <a:solidFill>
              <a:srgbClr val="31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63600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469087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F0E9"/>
                </a:solidFill>
                <a:latin typeface="Aptos"/>
              </a:rPr>
              <a:t>Live monitoring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4690872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9AFA2"/>
                </a:solidFill>
                <a:latin typeface="Aptos"/>
              </a:rPr>
              <a:t>CPU, memory, process count, start, stop, and polling verified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97312" y="469087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A8C9B1"/>
                </a:solidFill>
                <a:latin typeface="Aptos"/>
              </a:rPr>
              <a:t>PASS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193792"/>
            <a:ext cx="10908792" cy="512064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1248" y="5294376"/>
            <a:ext cx="310896" cy="310896"/>
          </a:xfrm>
          <a:prstGeom prst="ellipse">
            <a:avLst/>
          </a:prstGeom>
          <a:solidFill>
            <a:srgbClr val="263B2C"/>
          </a:solidFill>
          <a:ln w="12700">
            <a:solidFill>
              <a:srgbClr val="31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527608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8448" y="53309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F0E9"/>
                </a:solidFill>
                <a:latin typeface="Aptos"/>
              </a:rPr>
              <a:t>Detection workflow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5330952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9AFA2"/>
                </a:solidFill>
                <a:latin typeface="Aptos"/>
              </a:rPr>
              <a:t>12 safe files produced event risk 84, medium alert, and saved acknowledgement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97312" y="533095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A8C9B1"/>
                </a:solidFill>
                <a:latin typeface="Aptos"/>
              </a:rP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49224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RANSOMSHIELD  /  CURRENT IMPLEMENTATION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2F0E9"/>
                </a:solidFill>
                <a:latin typeface="Aptos Display"/>
              </a:rPr>
              <a:t>Project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AFA2"/>
                </a:solidFill>
                <a:latin typeface="Aptos"/>
              </a:rPr>
              <a:t>The web and monitoring foundation is ready for controlled data and model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9AFA2"/>
                </a:solidFill>
                <a:latin typeface="Aptos"/>
              </a:rPr>
              <a:t>14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783080"/>
            <a:ext cx="10908792" cy="0"/>
          </a:xfrm>
          <a:prstGeom prst="line">
            <a:avLst/>
          </a:prstGeom>
          <a:ln w="12700">
            <a:solidFill>
              <a:srgbClr val="363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97280" y="3246120"/>
            <a:ext cx="9875520" cy="0"/>
          </a:xfrm>
          <a:prstGeom prst="line">
            <a:avLst/>
          </a:prstGeom>
          <a:ln w="38100">
            <a:solidFill>
              <a:srgbClr val="363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22959" y="2971800"/>
            <a:ext cx="548640" cy="548640"/>
          </a:xfrm>
          <a:prstGeom prst="ellipse">
            <a:avLst/>
          </a:prstGeom>
          <a:solidFill>
            <a:srgbClr val="263B2C"/>
          </a:solidFill>
          <a:ln w="254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971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19" y="22402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2F0E9"/>
                </a:solidFill>
                <a:latin typeface="Aptos"/>
              </a:rP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19" y="3703320"/>
            <a:ext cx="1188720" cy="310896"/>
          </a:xfrm>
          <a:prstGeom prst="roundRect">
            <a:avLst>
              <a:gd name="adj" fmla="val 12000"/>
            </a:avLst>
          </a:prstGeom>
          <a:solidFill>
            <a:srgbClr val="263B2C"/>
          </a:solidFill>
          <a:ln w="127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19" y="3707891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8C9B1"/>
                </a:solidFill>
                <a:latin typeface="Aptos"/>
              </a:rPr>
              <a:t>COMPLETE</a:t>
            </a:r>
          </a:p>
        </p:txBody>
      </p:sp>
      <p:sp>
        <p:nvSpPr>
          <p:cNvPr id="13" name="Oval 12"/>
          <p:cNvSpPr/>
          <p:nvPr/>
        </p:nvSpPr>
        <p:spPr>
          <a:xfrm>
            <a:off x="3291840" y="2971800"/>
            <a:ext cx="548640" cy="548640"/>
          </a:xfrm>
          <a:prstGeom prst="ellipse">
            <a:avLst/>
          </a:prstGeom>
          <a:solidFill>
            <a:srgbClr val="263B2C"/>
          </a:solidFill>
          <a:ln w="254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971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2402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2F0E9"/>
                </a:solidFill>
                <a:latin typeface="Aptos"/>
              </a:rPr>
              <a:t>Flask + auth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3703320"/>
            <a:ext cx="1188720" cy="310896"/>
          </a:xfrm>
          <a:prstGeom prst="roundRect">
            <a:avLst>
              <a:gd name="adj" fmla="val 12000"/>
            </a:avLst>
          </a:prstGeom>
          <a:solidFill>
            <a:srgbClr val="263B2C"/>
          </a:solidFill>
          <a:ln w="127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3707891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8C9B1"/>
                </a:solidFill>
                <a:latin typeface="Aptos"/>
              </a:rPr>
              <a:t>COMPLETE</a:t>
            </a:r>
          </a:p>
        </p:txBody>
      </p:sp>
      <p:sp>
        <p:nvSpPr>
          <p:cNvPr id="18" name="Oval 17"/>
          <p:cNvSpPr/>
          <p:nvPr/>
        </p:nvSpPr>
        <p:spPr>
          <a:xfrm>
            <a:off x="5760720" y="2971800"/>
            <a:ext cx="548640" cy="548640"/>
          </a:xfrm>
          <a:prstGeom prst="ellipse">
            <a:avLst/>
          </a:prstGeom>
          <a:solidFill>
            <a:srgbClr val="263B2C"/>
          </a:solidFill>
          <a:ln w="254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2971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8C9B1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9" y="22402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2F0E9"/>
                </a:solidFill>
                <a:latin typeface="Aptos"/>
              </a:rPr>
              <a:t>Safe monitor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79" y="3703320"/>
            <a:ext cx="1188720" cy="310896"/>
          </a:xfrm>
          <a:prstGeom prst="roundRect">
            <a:avLst>
              <a:gd name="adj" fmla="val 12000"/>
            </a:avLst>
          </a:prstGeom>
          <a:solidFill>
            <a:srgbClr val="263B2C"/>
          </a:solidFill>
          <a:ln w="127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79" y="3707891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8C9B1"/>
                </a:solidFill>
                <a:latin typeface="Aptos"/>
              </a:rPr>
              <a:t>COMPLETE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0" y="2971800"/>
            <a:ext cx="548640" cy="548640"/>
          </a:xfrm>
          <a:prstGeom prst="ellipse">
            <a:avLst/>
          </a:prstGeom>
          <a:solidFill>
            <a:srgbClr val="44351F"/>
          </a:solidFill>
          <a:ln w="254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971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2402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2F0E9"/>
                </a:solidFill>
                <a:latin typeface="Aptos"/>
              </a:rPr>
              <a:t>TCN + XGBoost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3703320"/>
            <a:ext cx="1188720" cy="310896"/>
          </a:xfrm>
          <a:prstGeom prst="roundRect">
            <a:avLst>
              <a:gd name="adj" fmla="val 12000"/>
            </a:avLst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3707891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D8A45C"/>
                </a:solidFill>
                <a:latin typeface="Aptos"/>
              </a:rPr>
              <a:t>NEXT</a:t>
            </a:r>
          </a:p>
        </p:txBody>
      </p:sp>
      <p:sp>
        <p:nvSpPr>
          <p:cNvPr id="28" name="Oval 27"/>
          <p:cNvSpPr/>
          <p:nvPr/>
        </p:nvSpPr>
        <p:spPr>
          <a:xfrm>
            <a:off x="10698480" y="2971800"/>
            <a:ext cx="548640" cy="548640"/>
          </a:xfrm>
          <a:prstGeom prst="ellipse">
            <a:avLst/>
          </a:prstGeom>
          <a:solidFill>
            <a:srgbClr val="292E25"/>
          </a:solidFill>
          <a:ln w="25400">
            <a:solidFill>
              <a:srgbClr val="A9A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0" y="2971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9AFA2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2402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2F0E9"/>
                </a:solidFill>
                <a:latin typeface="Aptos"/>
              </a:rPr>
              <a:t>Evaluation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78440" y="3703320"/>
            <a:ext cx="1188720" cy="310896"/>
          </a:xfrm>
          <a:prstGeom prst="roundRect">
            <a:avLst>
              <a:gd name="adj" fmla="val 12000"/>
            </a:avLst>
          </a:prstGeom>
          <a:solidFill>
            <a:srgbClr val="292E25"/>
          </a:solidFill>
          <a:ln w="12700">
            <a:solidFill>
              <a:srgbClr val="A9A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78440" y="3707891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PLANNED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77440" y="4663440"/>
            <a:ext cx="7452360" cy="77724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4892040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A8C9B1"/>
                </a:solidFill>
                <a:latin typeface="Aptos"/>
              </a:rPr>
              <a:t>Current handoff: a verified protected dashboard and safe behavioral event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9224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RANSOMSHIELD  /  CURRENT IMPLEMENTATION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HONEST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2F0E9"/>
                </a:solidFill>
                <a:latin typeface="Aptos Display"/>
              </a:rPr>
              <a:t>Current limitations and next technical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AFA2"/>
                </a:solidFill>
                <a:latin typeface="Aptos"/>
              </a:rPr>
              <a:t>The prototype is functional, but it is not yet a production ransomware defense.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9AFA2"/>
                </a:solidFill>
                <a:latin typeface="Aptos"/>
              </a:rPr>
              <a:t>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783080"/>
            <a:ext cx="10908792" cy="0"/>
          </a:xfrm>
          <a:prstGeom prst="line">
            <a:avLst/>
          </a:prstGeom>
          <a:ln w="12700">
            <a:solidFill>
              <a:srgbClr val="363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011680"/>
            <a:ext cx="5212080" cy="3977639"/>
          </a:xfrm>
          <a:prstGeom prst="roundRect">
            <a:avLst>
              <a:gd name="adj" fmla="val 12000"/>
            </a:avLst>
          </a:prstGeom>
          <a:solidFill>
            <a:srgbClr val="492C29"/>
          </a:solidFill>
          <a:ln w="12700">
            <a:solidFill>
              <a:srgbClr val="EF9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EF9388"/>
                </a:solidFill>
                <a:latin typeface="Aptos"/>
              </a:rP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443484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F2F0E9"/>
                </a:solidFill>
                <a:latin typeface="Aptos"/>
              </a:rPr>
              <a:t>•  Heuristic is not a trained ransomware classifier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F2F0E9"/>
                </a:solidFill>
                <a:latin typeface="Aptos"/>
              </a:rPr>
              <a:t>•  Only one isolated demonstration folder is watched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F2F0E9"/>
                </a:solidFill>
                <a:latin typeface="Aptos"/>
              </a:rPr>
              <a:t>•  Monitoring state is local to one Flask process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F2F0E9"/>
                </a:solidFill>
                <a:latin typeface="Aptos"/>
              </a:rPr>
              <a:t>•  Events and alerts are currently system-wide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F2F0E9"/>
                </a:solidFill>
                <a:latin typeface="Aptos"/>
              </a:rPr>
              <a:t>•  No recovery, quarantine, or process termination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F2F0E9"/>
                </a:solidFill>
                <a:latin typeface="Aptos"/>
              </a:rPr>
              <a:t>•  SQLite and development server are not production deployment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011680"/>
            <a:ext cx="5422392" cy="3977639"/>
          </a:xfrm>
          <a:prstGeom prst="roundRect">
            <a:avLst>
              <a:gd name="adj" fmla="val 12000"/>
            </a:avLst>
          </a:prstGeom>
          <a:solidFill>
            <a:srgbClr val="263B2C"/>
          </a:solidFill>
          <a:ln w="12700">
            <a:solidFill>
              <a:srgbClr val="31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A8C9B1"/>
                </a:solidFill>
                <a:latin typeface="Aptos"/>
              </a:rPr>
              <a:t>Next technical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880360"/>
            <a:ext cx="452628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F2F0E9"/>
                </a:solidFill>
                <a:latin typeface="Aptos"/>
              </a:rPr>
              <a:t>•  Define dataset, label policy, and temporal window size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F2F0E9"/>
                </a:solidFill>
                <a:latin typeface="Aptos"/>
              </a:rPr>
              <a:t>•  Train TCN and export stable feature representation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F2F0E9"/>
                </a:solidFill>
                <a:latin typeface="Aptos"/>
              </a:rPr>
              <a:t>•  Train and calibrate XGBoost classifier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F2F0E9"/>
                </a:solidFill>
                <a:latin typeface="Aptos"/>
              </a:rPr>
              <a:t>•  Add per-user or per-agent ownership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F2F0E9"/>
                </a:solidFill>
                <a:latin typeface="Aptos"/>
              </a:rPr>
              <a:t>•  Measure precision, recall, F1, false positives, and latency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F2F0E9"/>
                </a:solidFill>
                <a:latin typeface="Aptos"/>
              </a:rPr>
              <a:t>•  Add migrations, rate limiting, HTTPS, and deployment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RANSOMSHIELD  /  CURRENT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PROJECT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2F0E9"/>
                </a:solidFill>
                <a:latin typeface="Aptos Display"/>
              </a:rPr>
              <a:t>Meet the RansomShield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AFA2"/>
                </a:solidFill>
                <a:latin typeface="Aptos"/>
              </a:rPr>
              <a:t>Department of Computer Science &amp; Engineering, BIET, Davanagere.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9AFA2"/>
                </a:solidFill>
                <a:latin typeface="Aptos"/>
              </a:rPr>
              <a:t>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783080"/>
            <a:ext cx="10908792" cy="0"/>
          </a:xfrm>
          <a:prstGeom prst="line">
            <a:avLst/>
          </a:prstGeom>
          <a:ln w="12700">
            <a:solidFill>
              <a:srgbClr val="363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148840"/>
            <a:ext cx="2487168" cy="310896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35024" y="2514600"/>
            <a:ext cx="1097280" cy="1097280"/>
          </a:xfrm>
          <a:prstGeom prst="ellipse">
            <a:avLst/>
          </a:prstGeom>
          <a:solidFill>
            <a:srgbClr val="263B2C"/>
          </a:solidFill>
          <a:ln w="254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5024" y="25146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A8C9B1"/>
                </a:solidFill>
                <a:latin typeface="Aptos"/>
              </a:rPr>
              <a:t>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20299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2F0E9"/>
                </a:solidFill>
                <a:latin typeface="Aptos"/>
              </a:rPr>
              <a:t>Archana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89120"/>
            <a:ext cx="20299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Research &amp; Development</a:t>
            </a:r>
            <a:br/>
            <a:r>
              <a:t>Team Member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148840"/>
            <a:ext cx="2487168" cy="310896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96511" y="2514600"/>
            <a:ext cx="1097280" cy="1097280"/>
          </a:xfrm>
          <a:prstGeom prst="ellipse">
            <a:avLst/>
          </a:prstGeom>
          <a:solidFill>
            <a:srgbClr val="44351F"/>
          </a:solidFill>
          <a:ln w="254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6511" y="25146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D8A45C"/>
                </a:solidFill>
                <a:latin typeface="Aptos"/>
              </a:rPr>
              <a:t>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886200"/>
            <a:ext cx="20299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2F0E9"/>
                </a:solidFill>
                <a:latin typeface="Aptos"/>
              </a:rPr>
              <a:t>Chandan T 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4389120"/>
            <a:ext cx="20299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Research &amp; Development</a:t>
            </a:r>
            <a:br/>
            <a:r>
              <a:t>Team Member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2148840"/>
            <a:ext cx="2487168" cy="310896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0" y="2514600"/>
            <a:ext cx="1097280" cy="1097280"/>
          </a:xfrm>
          <a:prstGeom prst="ellipse">
            <a:avLst/>
          </a:prstGeom>
          <a:solidFill>
            <a:srgbClr val="263B2C"/>
          </a:solidFill>
          <a:ln w="254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5146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A8C9B1"/>
                </a:solidFill>
                <a:latin typeface="Aptos"/>
              </a:rPr>
              <a:t>GP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3886200"/>
            <a:ext cx="20299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2F0E9"/>
                </a:solidFill>
                <a:latin typeface="Aptos"/>
              </a:rPr>
              <a:t>Gouri K Patil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4389120"/>
            <a:ext cx="20299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Research &amp; Development</a:t>
            </a:r>
            <a:br/>
            <a:r>
              <a:t>Team Member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24544" y="2148840"/>
            <a:ext cx="2487168" cy="3108960"/>
          </a:xfrm>
          <a:prstGeom prst="roundRect">
            <a:avLst>
              <a:gd name="adj" fmla="val 12000"/>
            </a:avLst>
          </a:prstGeom>
          <a:solidFill>
            <a:srgbClr val="1D211B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19488" y="2514600"/>
            <a:ext cx="1097280" cy="1097280"/>
          </a:xfrm>
          <a:prstGeom prst="ellipse">
            <a:avLst/>
          </a:prstGeom>
          <a:solidFill>
            <a:srgbClr val="44351F"/>
          </a:solidFill>
          <a:ln w="254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9488" y="25146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D8A45C"/>
                </a:solidFill>
                <a:latin typeface="Aptos"/>
              </a:rPr>
              <a:t>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3886200"/>
            <a:ext cx="20299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2F0E9"/>
                </a:solidFill>
                <a:latin typeface="Aptos"/>
              </a:rPr>
              <a:t>Karan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4389120"/>
            <a:ext cx="20299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AFA2"/>
                </a:solidFill>
                <a:latin typeface="Aptos"/>
              </a:rPr>
              <a:t>Research &amp; Development</a:t>
            </a:r>
            <a:br/>
            <a:r>
              <a:t>Team Member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08960" y="5486400"/>
            <a:ext cx="5943600" cy="475488"/>
          </a:xfrm>
          <a:prstGeom prst="roundRect">
            <a:avLst>
              <a:gd name="adj" fmla="val 12000"/>
            </a:avLst>
          </a:prstGeom>
          <a:solidFill>
            <a:srgbClr val="242920"/>
          </a:solidFill>
          <a:ln w="12700">
            <a:solidFill>
              <a:srgbClr val="36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5614416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9AFA2"/>
                </a:solidFill>
                <a:latin typeface="Aptos"/>
              </a:rPr>
              <a:t>Project Guide: Dr. Usha G R  •  Associate Professor, Dept. of CS&amp;E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9224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RANSOMSHIELD  /  CURRENT IMPLEMENTATION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56048" y="777240"/>
            <a:ext cx="2286000" cy="2286000"/>
          </a:xfrm>
          <a:prstGeom prst="ellipse">
            <a:avLst/>
          </a:prstGeom>
          <a:solidFill>
            <a:srgbClr val="263B2C"/>
          </a:solidFill>
          <a:ln w="25400">
            <a:solidFill>
              <a:srgbClr val="A8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56048" y="77724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A8C9B1"/>
                </a:solidFill>
                <a:latin typeface="Aptos"/>
              </a:rPr>
              <a:t>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3246120"/>
            <a:ext cx="83667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2F0E9"/>
                </a:solidFill>
                <a:latin typeface="Aptos Display"/>
              </a:rPr>
              <a:t>A functional foundation.</a:t>
            </a:r>
            <a:br/>
            <a:r>
              <a:t>A measurable next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4480560"/>
            <a:ext cx="8092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A9AFA2"/>
                </a:solidFill>
                <a:latin typeface="Aptos"/>
              </a:rPr>
              <a:t>RansomShield now has secure access, real monitoring logic, persistent evidence, and a clear path to TCN + XGBoost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10912" y="5623560"/>
            <a:ext cx="2176272" cy="310896"/>
          </a:xfrm>
          <a:prstGeom prst="roundRect">
            <a:avLst>
              <a:gd name="adj" fmla="val 12000"/>
            </a:avLst>
          </a:prstGeom>
          <a:solidFill>
            <a:srgbClr val="44351F"/>
          </a:solidFill>
          <a:ln w="12700">
            <a:solidFill>
              <a:srgbClr val="D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10912" y="5628132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8A45C"/>
                </a:solidFill>
                <a:latin typeface="Aptos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RANSOMSHIELD  /  CURRENT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A9AFA2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RansomShield — Current Implementation</dc:title>
  <dc:subject>Flask authentication, safe monitoring, dashboard, and project roadmap</dc:subject>
  <dc:creator>RansomShield Project Team</dc:creator>
  <cp:keywords>RansomShield, Flask, ransomware detection, behavioral monitoring, cybersecurity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