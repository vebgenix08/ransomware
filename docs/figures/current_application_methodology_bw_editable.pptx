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0104100" cy="113093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C8AF6A1-B095-49E2-B257-BCEEBCCD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410" y="4272421"/>
            <a:ext cx="16083280" cy="163357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10C8883-7304-4EE4-A6BC-FBBA0D10C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5615" y="6220143"/>
            <a:ext cx="14072870" cy="125659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6E06052-0505-42E1-994C-26A5139A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410" y="4712229"/>
            <a:ext cx="16083280" cy="188489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1552F16-F647-4B8B-8CA7-AE09CDE28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56" y="879616"/>
            <a:ext cx="17842389" cy="13822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661B797-0868-4002-BCFD-FC79083A8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856" y="3141486"/>
            <a:ext cx="17842389" cy="703692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88ADEE-8E90-4057-8B1E-8466F8EC8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56" y="879616"/>
            <a:ext cx="17842389" cy="13822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84245B3-89B9-4C22-9FAA-18B67C521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856" y="3141486"/>
            <a:ext cx="8292941" cy="703692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88C4F40-B6EA-47F2-AECD-B08F1DDCAF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680303" y="3141486"/>
            <a:ext cx="8292941" cy="703692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52F3CC-96D0-4199-A14F-5F10572A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56" y="879616"/>
            <a:ext cx="17842389" cy="13822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F3890E7-C18A-4F2F-A50F-EA2FB8ED4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856" y="3141486"/>
            <a:ext cx="8292941" cy="703692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A7F3340-E5CD-40FC-928A-977DF900EC7A}"/>
              </a:ext>
            </a:extLst>
          </p:cNvPr>
          <p:cNvCxnSpPr>
            <a:stCxn id="63" idx="3"/>
            <a:endCxn id="66" idx="1"/>
          </p:cNvCxnSpPr>
          <p:nvPr/>
        </p:nvCxnSpPr>
        <p:spPr>
          <a:xfrm>
            <a:off x="15379636" y="9160574"/>
            <a:ext cx="678514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B7F8292-6D70-433B-B7A7-4A75CDF65A93}"/>
              </a:ext>
            </a:extLst>
          </p:cNvPr>
          <p:cNvCxnSpPr>
            <a:stCxn id="60" idx="3"/>
            <a:endCxn id="63" idx="1"/>
          </p:cNvCxnSpPr>
          <p:nvPr/>
        </p:nvCxnSpPr>
        <p:spPr>
          <a:xfrm>
            <a:off x="11622683" y="9160574"/>
            <a:ext cx="678513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C12852-C393-45C5-BE41-1F0AD09A49C6}"/>
              </a:ext>
            </a:extLst>
          </p:cNvPr>
          <p:cNvCxnSpPr>
            <a:stCxn id="57" idx="3"/>
            <a:endCxn id="60" idx="1"/>
          </p:cNvCxnSpPr>
          <p:nvPr/>
        </p:nvCxnSpPr>
        <p:spPr>
          <a:xfrm>
            <a:off x="7865729" y="9160574"/>
            <a:ext cx="678514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ED29E42-2F02-45E6-8F09-59C52917119A}"/>
              </a:ext>
            </a:extLst>
          </p:cNvPr>
          <p:cNvCxnSpPr>
            <a:stCxn id="54" idx="3"/>
            <a:endCxn id="57" idx="1"/>
          </p:cNvCxnSpPr>
          <p:nvPr/>
        </p:nvCxnSpPr>
        <p:spPr>
          <a:xfrm>
            <a:off x="4108775" y="9160574"/>
            <a:ext cx="678514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5A5CD81-D3EE-4D17-B01B-C850C3C7B52D}"/>
              </a:ext>
            </a:extLst>
          </p:cNvPr>
          <p:cNvCxnSpPr>
            <a:stCxn id="20" idx="3"/>
            <a:endCxn id="35" idx="1"/>
          </p:cNvCxnSpPr>
          <p:nvPr/>
        </p:nvCxnSpPr>
        <p:spPr>
          <a:xfrm>
            <a:off x="13871829" y="4712230"/>
            <a:ext cx="9172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38EB64A-037E-4081-8E02-89FB0CF25E76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5063721" y="4712230"/>
            <a:ext cx="892119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arrow" w="med" len="med"/>
          </a:ln>
        </p:spPr>
      </p:cxnSp>
      <p:sp>
        <p:nvSpPr>
          <p:cNvPr id="74" name="title">
            <a:extLst>
              <a:ext uri="{FF2B5EF4-FFF2-40B4-BE49-F238E27FC236}">
                <a16:creationId xmlns:a16="http://schemas.microsoft.com/office/drawing/2014/main" id="{31FDDF13-8E02-4B9A-B9E0-3E1B4BBEA30E}"/>
              </a:ext>
            </a:extLst>
          </p:cNvPr>
          <p:cNvSpPr>
            <a:spLocks noGrp="1"/>
          </p:cNvSpPr>
          <p:nvPr/>
        </p:nvSpPr>
        <p:spPr>
          <a:xfrm>
            <a:off x="829294" y="402110"/>
            <a:ext cx="7664688" cy="7790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749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4749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RansomShield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70D8D3-B9C7-44D3-A5D6-BE2AABF96B50}"/>
              </a:ext>
            </a:extLst>
          </p:cNvPr>
          <p:cNvSpPr>
            <a:spLocks noGrp="1"/>
          </p:cNvSpPr>
          <p:nvPr/>
        </p:nvSpPr>
        <p:spPr>
          <a:xfrm>
            <a:off x="854424" y="1193765"/>
            <a:ext cx="9423797" cy="4775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73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2473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application methodology</a:t>
            </a:r>
          </a:p>
        </p:txBody>
      </p:sp>
      <p:sp>
        <p:nvSpPr>
          <p:cNvPr id="3" name="live-tag">
            <a:extLst>
              <a:ext uri="{FF2B5EF4-FFF2-40B4-BE49-F238E27FC236}">
                <a16:creationId xmlns:a16="http://schemas.microsoft.com/office/drawing/2014/main" id="{B253862C-8239-482A-8899-961B836698DB}"/>
              </a:ext>
            </a:extLst>
          </p:cNvPr>
          <p:cNvSpPr>
            <a:spLocks noGrp="1"/>
          </p:cNvSpPr>
          <p:nvPr/>
        </p:nvSpPr>
        <p:spPr>
          <a:xfrm>
            <a:off x="15455027" y="490072"/>
            <a:ext cx="3957995" cy="3518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8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8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 FILE MONITORING</a:t>
            </a:r>
          </a:p>
        </p:txBody>
      </p:sp>
      <p:sp>
        <p:nvSpPr>
          <p:cNvPr id="4" name="live-tag-note">
            <a:extLst>
              <a:ext uri="{FF2B5EF4-FFF2-40B4-BE49-F238E27FC236}">
                <a16:creationId xmlns:a16="http://schemas.microsoft.com/office/drawing/2014/main" id="{484D05AF-0479-4594-8219-F7BF5E0FF80F}"/>
              </a:ext>
            </a:extLst>
          </p:cNvPr>
          <p:cNvSpPr>
            <a:spLocks noGrp="1"/>
          </p:cNvSpPr>
          <p:nvPr/>
        </p:nvSpPr>
        <p:spPr>
          <a:xfrm>
            <a:off x="14826774" y="867050"/>
            <a:ext cx="4586248" cy="3518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781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781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separate SILRAD evaluation</a:t>
            </a:r>
          </a:p>
        </p:txBody>
      </p:sp>
      <p:sp>
        <p:nvSpPr>
          <p:cNvPr id="5" name="live-section">
            <a:extLst>
              <a:ext uri="{FF2B5EF4-FFF2-40B4-BE49-F238E27FC236}">
                <a16:creationId xmlns:a16="http://schemas.microsoft.com/office/drawing/2014/main" id="{5BCF7086-8678-458E-8277-2CD9D119FC2A}"/>
              </a:ext>
            </a:extLst>
          </p:cNvPr>
          <p:cNvSpPr>
            <a:spLocks noGrp="1"/>
          </p:cNvSpPr>
          <p:nvPr/>
        </p:nvSpPr>
        <p:spPr>
          <a:xfrm>
            <a:off x="854424" y="2010551"/>
            <a:ext cx="6156881" cy="414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   LIVE MONITORING</a:t>
            </a:r>
          </a:p>
        </p:txBody>
      </p:sp>
      <p:sp>
        <p:nvSpPr>
          <p:cNvPr id="6" name="live-subtitle">
            <a:extLst>
              <a:ext uri="{FF2B5EF4-FFF2-40B4-BE49-F238E27FC236}">
                <a16:creationId xmlns:a16="http://schemas.microsoft.com/office/drawing/2014/main" id="{AD283BB0-23C8-4ABD-88E1-F4CC6E8A114D}"/>
              </a:ext>
            </a:extLst>
          </p:cNvPr>
          <p:cNvSpPr>
            <a:spLocks noGrp="1"/>
          </p:cNvSpPr>
          <p:nvPr/>
        </p:nvSpPr>
        <p:spPr>
          <a:xfrm>
            <a:off x="14072870" y="2010551"/>
            <a:ext cx="5340152" cy="414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68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Rule-based file activity alerts</a:t>
            </a:r>
          </a:p>
        </p:txBody>
      </p:sp>
      <p:sp>
        <p:nvSpPr>
          <p:cNvPr id="7" name="activity-sources">
            <a:extLst>
              <a:ext uri="{FF2B5EF4-FFF2-40B4-BE49-F238E27FC236}">
                <a16:creationId xmlns:a16="http://schemas.microsoft.com/office/drawing/2014/main" id="{B0D9E599-C7C9-4AE7-81FF-A33E631B8669}"/>
              </a:ext>
            </a:extLst>
          </p:cNvPr>
          <p:cNvSpPr>
            <a:spLocks noGrp="1"/>
          </p:cNvSpPr>
          <p:nvPr/>
        </p:nvSpPr>
        <p:spPr>
          <a:xfrm>
            <a:off x="728774" y="2764508"/>
            <a:ext cx="4334947" cy="3895443"/>
          </a:xfrm>
          <a:prstGeom prst="roundRect">
            <a:avLst>
              <a:gd name="adj" fmla="val 6451"/>
            </a:avLst>
          </a:prstGeom>
          <a:solidFill>
            <a:srgbClr val="F0F0F0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9" name="sources-heading">
            <a:extLst>
              <a:ext uri="{FF2B5EF4-FFF2-40B4-BE49-F238E27FC236}">
                <a16:creationId xmlns:a16="http://schemas.microsoft.com/office/drawing/2014/main" id="{40C1F861-4CB2-4773-81F2-D8C4BACB1DAD}"/>
              </a:ext>
            </a:extLst>
          </p:cNvPr>
          <p:cNvSpPr>
            <a:spLocks noGrp="1"/>
          </p:cNvSpPr>
          <p:nvPr/>
        </p:nvSpPr>
        <p:spPr>
          <a:xfrm>
            <a:off x="1055465" y="3003261"/>
            <a:ext cx="3593608" cy="3644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82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82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ACTIVITY SOURCES</a:t>
            </a:r>
          </a:p>
        </p:txBody>
      </p:sp>
      <p:sp>
        <p:nvSpPr>
          <p:cNvPr id="10" name="source-1">
            <a:extLst>
              <a:ext uri="{FF2B5EF4-FFF2-40B4-BE49-F238E27FC236}">
                <a16:creationId xmlns:a16="http://schemas.microsoft.com/office/drawing/2014/main" id="{7AC8D869-8C54-47A6-9AAD-2A7948C5B16F}"/>
              </a:ext>
            </a:extLst>
          </p:cNvPr>
          <p:cNvSpPr>
            <a:spLocks noGrp="1"/>
          </p:cNvSpPr>
          <p:nvPr/>
        </p:nvSpPr>
        <p:spPr>
          <a:xfrm>
            <a:off x="1030335" y="3505899"/>
            <a:ext cx="3744389" cy="728825"/>
          </a:xfrm>
          <a:prstGeom prst="roundRect">
            <a:avLst>
              <a:gd name="adj" fmla="val 20688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11" name="source-1-title">
            <a:extLst>
              <a:ext uri="{FF2B5EF4-FFF2-40B4-BE49-F238E27FC236}">
                <a16:creationId xmlns:a16="http://schemas.microsoft.com/office/drawing/2014/main" id="{DD3D7706-EF3B-42F3-8BDD-A6FD3AB58271}"/>
              </a:ext>
            </a:extLst>
          </p:cNvPr>
          <p:cNvSpPr>
            <a:spLocks noGrp="1"/>
          </p:cNvSpPr>
          <p:nvPr/>
        </p:nvSpPr>
        <p:spPr>
          <a:xfrm>
            <a:off x="1231376" y="3568728"/>
            <a:ext cx="3317177" cy="314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Browser-picked folder</a:t>
            </a:r>
          </a:p>
        </p:txBody>
      </p:sp>
      <p:sp>
        <p:nvSpPr>
          <p:cNvPr id="12" name="source-1-details">
            <a:extLst>
              <a:ext uri="{FF2B5EF4-FFF2-40B4-BE49-F238E27FC236}">
                <a16:creationId xmlns:a16="http://schemas.microsoft.com/office/drawing/2014/main" id="{AD735C29-7888-4D63-BC1C-CBDF31F53412}"/>
              </a:ext>
            </a:extLst>
          </p:cNvPr>
          <p:cNvSpPr>
            <a:spLocks noGrp="1"/>
          </p:cNvSpPr>
          <p:nvPr/>
        </p:nvSpPr>
        <p:spPr>
          <a:xfrm>
            <a:off x="1231376" y="3895443"/>
            <a:ext cx="3317177" cy="263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8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Browser permission; metadata only</a:t>
            </a:r>
          </a:p>
        </p:txBody>
      </p:sp>
      <p:sp>
        <p:nvSpPr>
          <p:cNvPr id="13" name="source-2">
            <a:extLst>
              <a:ext uri="{FF2B5EF4-FFF2-40B4-BE49-F238E27FC236}">
                <a16:creationId xmlns:a16="http://schemas.microsoft.com/office/drawing/2014/main" id="{28C79581-08D1-4873-86E8-640BDA4D36F2}"/>
              </a:ext>
            </a:extLst>
          </p:cNvPr>
          <p:cNvSpPr>
            <a:spLocks noGrp="1"/>
          </p:cNvSpPr>
          <p:nvPr/>
        </p:nvSpPr>
        <p:spPr>
          <a:xfrm>
            <a:off x="1030335" y="4385515"/>
            <a:ext cx="3744389" cy="728825"/>
          </a:xfrm>
          <a:prstGeom prst="roundRect">
            <a:avLst>
              <a:gd name="adj" fmla="val 20688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14" name="source-2-title">
            <a:extLst>
              <a:ext uri="{FF2B5EF4-FFF2-40B4-BE49-F238E27FC236}">
                <a16:creationId xmlns:a16="http://schemas.microsoft.com/office/drawing/2014/main" id="{4F4A3106-5DAF-4A17-A962-D9029CB09F3A}"/>
              </a:ext>
            </a:extLst>
          </p:cNvPr>
          <p:cNvSpPr>
            <a:spLocks noGrp="1"/>
          </p:cNvSpPr>
          <p:nvPr/>
        </p:nvSpPr>
        <p:spPr>
          <a:xfrm>
            <a:off x="1231376" y="4448344"/>
            <a:ext cx="3317177" cy="314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Server folder</a:t>
            </a:r>
          </a:p>
        </p:txBody>
      </p:sp>
      <p:sp>
        <p:nvSpPr>
          <p:cNvPr id="15" name="source-2-details">
            <a:extLst>
              <a:ext uri="{FF2B5EF4-FFF2-40B4-BE49-F238E27FC236}">
                <a16:creationId xmlns:a16="http://schemas.microsoft.com/office/drawing/2014/main" id="{6492984E-28FF-417D-8425-F5F7ABEB8697}"/>
              </a:ext>
            </a:extLst>
          </p:cNvPr>
          <p:cNvSpPr>
            <a:spLocks noGrp="1"/>
          </p:cNvSpPr>
          <p:nvPr/>
        </p:nvSpPr>
        <p:spPr>
          <a:xfrm>
            <a:off x="1231376" y="4775059"/>
            <a:ext cx="3317177" cy="263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8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Watched by the application host</a:t>
            </a:r>
          </a:p>
        </p:txBody>
      </p:sp>
      <p:sp>
        <p:nvSpPr>
          <p:cNvPr id="16" name="source-3">
            <a:extLst>
              <a:ext uri="{FF2B5EF4-FFF2-40B4-BE49-F238E27FC236}">
                <a16:creationId xmlns:a16="http://schemas.microsoft.com/office/drawing/2014/main" id="{4B373AAE-CF84-4D08-A02A-2ABA3449F1B5}"/>
              </a:ext>
            </a:extLst>
          </p:cNvPr>
          <p:cNvSpPr>
            <a:spLocks noGrp="1"/>
          </p:cNvSpPr>
          <p:nvPr/>
        </p:nvSpPr>
        <p:spPr>
          <a:xfrm>
            <a:off x="1030335" y="5265131"/>
            <a:ext cx="3744389" cy="728825"/>
          </a:xfrm>
          <a:prstGeom prst="roundRect">
            <a:avLst>
              <a:gd name="adj" fmla="val 20688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17" name="source-3-title">
            <a:extLst>
              <a:ext uri="{FF2B5EF4-FFF2-40B4-BE49-F238E27FC236}">
                <a16:creationId xmlns:a16="http://schemas.microsoft.com/office/drawing/2014/main" id="{2EC8DB41-3270-4343-B4A9-77B76E151C19}"/>
              </a:ext>
            </a:extLst>
          </p:cNvPr>
          <p:cNvSpPr>
            <a:spLocks noGrp="1"/>
          </p:cNvSpPr>
          <p:nvPr/>
        </p:nvSpPr>
        <p:spPr>
          <a:xfrm>
            <a:off x="1231376" y="5327960"/>
            <a:ext cx="3317177" cy="314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 endpoint agent</a:t>
            </a:r>
          </a:p>
        </p:txBody>
      </p:sp>
      <p:sp>
        <p:nvSpPr>
          <p:cNvPr id="18" name="source-3-details">
            <a:extLst>
              <a:ext uri="{FF2B5EF4-FFF2-40B4-BE49-F238E27FC236}">
                <a16:creationId xmlns:a16="http://schemas.microsoft.com/office/drawing/2014/main" id="{E0307A30-3AFC-42DD-85B6-0E0E1AF8F5F2}"/>
              </a:ext>
            </a:extLst>
          </p:cNvPr>
          <p:cNvSpPr>
            <a:spLocks noGrp="1"/>
          </p:cNvSpPr>
          <p:nvPr/>
        </p:nvSpPr>
        <p:spPr>
          <a:xfrm>
            <a:off x="1231376" y="5654675"/>
            <a:ext cx="3317177" cy="263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8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Authenticated action + path reports</a:t>
            </a:r>
          </a:p>
        </p:txBody>
      </p:sp>
      <p:sp>
        <p:nvSpPr>
          <p:cNvPr id="19" name="source-note">
            <a:extLst>
              <a:ext uri="{FF2B5EF4-FFF2-40B4-BE49-F238E27FC236}">
                <a16:creationId xmlns:a16="http://schemas.microsoft.com/office/drawing/2014/main" id="{DA0F6402-3577-49F5-B57A-B36F0E3E5600}"/>
              </a:ext>
            </a:extLst>
          </p:cNvPr>
          <p:cNvSpPr>
            <a:spLocks noGrp="1"/>
          </p:cNvSpPr>
          <p:nvPr/>
        </p:nvSpPr>
        <p:spPr>
          <a:xfrm>
            <a:off x="1055465" y="6207577"/>
            <a:ext cx="3568478" cy="2764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Created • modified • deleted</a:t>
            </a:r>
          </a:p>
        </p:txBody>
      </p:sp>
      <p:sp>
        <p:nvSpPr>
          <p:cNvPr id="20" name="live-rule-engine">
            <a:extLst>
              <a:ext uri="{FF2B5EF4-FFF2-40B4-BE49-F238E27FC236}">
                <a16:creationId xmlns:a16="http://schemas.microsoft.com/office/drawing/2014/main" id="{BF870263-B3F0-41DA-9DF8-129A6D031064}"/>
              </a:ext>
            </a:extLst>
          </p:cNvPr>
          <p:cNvSpPr>
            <a:spLocks noGrp="1"/>
          </p:cNvSpPr>
          <p:nvPr/>
        </p:nvSpPr>
        <p:spPr>
          <a:xfrm>
            <a:off x="5955840" y="2764508"/>
            <a:ext cx="7915989" cy="3895443"/>
          </a:xfrm>
          <a:prstGeom prst="roundRect">
            <a:avLst>
              <a:gd name="adj" fmla="val 6451"/>
            </a:avLst>
          </a:prstGeom>
          <a:solidFill>
            <a:srgbClr val="F0F0F0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22" name="engine-label">
            <a:extLst>
              <a:ext uri="{FF2B5EF4-FFF2-40B4-BE49-F238E27FC236}">
                <a16:creationId xmlns:a16="http://schemas.microsoft.com/office/drawing/2014/main" id="{D99ECAD2-40D3-40BD-A865-44CD54CDBE6A}"/>
              </a:ext>
            </a:extLst>
          </p:cNvPr>
          <p:cNvSpPr>
            <a:spLocks noGrp="1"/>
          </p:cNvSpPr>
          <p:nvPr/>
        </p:nvSpPr>
        <p:spPr>
          <a:xfrm>
            <a:off x="6307661" y="3003261"/>
            <a:ext cx="4523423" cy="3644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82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82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RANSHIELD LIVE ENGINE</a:t>
            </a:r>
          </a:p>
        </p:txBody>
      </p:sp>
      <p:sp>
        <p:nvSpPr>
          <p:cNvPr id="23" name="engine-title">
            <a:extLst>
              <a:ext uri="{FF2B5EF4-FFF2-40B4-BE49-F238E27FC236}">
                <a16:creationId xmlns:a16="http://schemas.microsoft.com/office/drawing/2014/main" id="{813BDCB4-2942-495B-B66D-DFFB25B0F546}"/>
              </a:ext>
            </a:extLst>
          </p:cNvPr>
          <p:cNvSpPr>
            <a:spLocks noGrp="1"/>
          </p:cNvSpPr>
          <p:nvPr/>
        </p:nvSpPr>
        <p:spPr>
          <a:xfrm>
            <a:off x="6307661" y="3405371"/>
            <a:ext cx="7099260" cy="527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869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2869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  →  count  →  compare</a:t>
            </a:r>
          </a:p>
        </p:txBody>
      </p:sp>
      <p:sp>
        <p:nvSpPr>
          <p:cNvPr id="24" name="step-1-circle">
            <a:extLst>
              <a:ext uri="{FF2B5EF4-FFF2-40B4-BE49-F238E27FC236}">
                <a16:creationId xmlns:a16="http://schemas.microsoft.com/office/drawing/2014/main" id="{44DAEBC4-1D94-4384-8119-B0E6BB3E344E}"/>
              </a:ext>
            </a:extLst>
          </p:cNvPr>
          <p:cNvSpPr>
            <a:spLocks noGrp="1"/>
          </p:cNvSpPr>
          <p:nvPr/>
        </p:nvSpPr>
        <p:spPr>
          <a:xfrm>
            <a:off x="6307661" y="4184460"/>
            <a:ext cx="427212" cy="427242"/>
          </a:xfrm>
          <a:prstGeom prst="ellipse">
            <a:avLst/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25" name="step-1-number">
            <a:extLst>
              <a:ext uri="{FF2B5EF4-FFF2-40B4-BE49-F238E27FC236}">
                <a16:creationId xmlns:a16="http://schemas.microsoft.com/office/drawing/2014/main" id="{447BB373-80EA-4DAD-899C-7E2AB83944D9}"/>
              </a:ext>
            </a:extLst>
          </p:cNvPr>
          <p:cNvSpPr>
            <a:spLocks noGrp="1"/>
          </p:cNvSpPr>
          <p:nvPr/>
        </p:nvSpPr>
        <p:spPr>
          <a:xfrm>
            <a:off x="6307661" y="4184460"/>
            <a:ext cx="427212" cy="427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step-1-copy">
            <a:extLst>
              <a:ext uri="{FF2B5EF4-FFF2-40B4-BE49-F238E27FC236}">
                <a16:creationId xmlns:a16="http://schemas.microsoft.com/office/drawing/2014/main" id="{D3918E15-9032-4207-9211-3DD0E4A651C3}"/>
              </a:ext>
            </a:extLst>
          </p:cNvPr>
          <p:cNvSpPr>
            <a:spLocks noGrp="1"/>
          </p:cNvSpPr>
          <p:nvPr/>
        </p:nvSpPr>
        <p:spPr>
          <a:xfrm>
            <a:off x="6910784" y="4159328"/>
            <a:ext cx="6533832" cy="502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Capture each action and relative file path</a:t>
            </a:r>
          </a:p>
        </p:txBody>
      </p:sp>
      <p:sp>
        <p:nvSpPr>
          <p:cNvPr id="27" name="step-2-circle">
            <a:extLst>
              <a:ext uri="{FF2B5EF4-FFF2-40B4-BE49-F238E27FC236}">
                <a16:creationId xmlns:a16="http://schemas.microsoft.com/office/drawing/2014/main" id="{09717A87-FC41-4977-943F-98BA2FBA0FCF}"/>
              </a:ext>
            </a:extLst>
          </p:cNvPr>
          <p:cNvSpPr>
            <a:spLocks noGrp="1"/>
          </p:cNvSpPr>
          <p:nvPr/>
        </p:nvSpPr>
        <p:spPr>
          <a:xfrm>
            <a:off x="6307661" y="4837889"/>
            <a:ext cx="427212" cy="427242"/>
          </a:xfrm>
          <a:prstGeom prst="ellipse">
            <a:avLst/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28" name="step-2-number">
            <a:extLst>
              <a:ext uri="{FF2B5EF4-FFF2-40B4-BE49-F238E27FC236}">
                <a16:creationId xmlns:a16="http://schemas.microsoft.com/office/drawing/2014/main" id="{68E4DEDD-357D-45BB-9AA6-87908EFB53FD}"/>
              </a:ext>
            </a:extLst>
          </p:cNvPr>
          <p:cNvSpPr>
            <a:spLocks noGrp="1"/>
          </p:cNvSpPr>
          <p:nvPr/>
        </p:nvSpPr>
        <p:spPr>
          <a:xfrm>
            <a:off x="6307661" y="4837889"/>
            <a:ext cx="427212" cy="427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9" name="step-2-copy">
            <a:extLst>
              <a:ext uri="{FF2B5EF4-FFF2-40B4-BE49-F238E27FC236}">
                <a16:creationId xmlns:a16="http://schemas.microsoft.com/office/drawing/2014/main" id="{6C47E0C4-1F76-4AF1-ADD8-CA29639C72BA}"/>
              </a:ext>
            </a:extLst>
          </p:cNvPr>
          <p:cNvSpPr>
            <a:spLocks noGrp="1"/>
          </p:cNvSpPr>
          <p:nvPr/>
        </p:nvSpPr>
        <p:spPr>
          <a:xfrm>
            <a:off x="6910784" y="4812757"/>
            <a:ext cx="6533832" cy="502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 distinct paths inside the selected time window</a:t>
            </a:r>
          </a:p>
        </p:txBody>
      </p:sp>
      <p:sp>
        <p:nvSpPr>
          <p:cNvPr id="30" name="step-3-circle">
            <a:extLst>
              <a:ext uri="{FF2B5EF4-FFF2-40B4-BE49-F238E27FC236}">
                <a16:creationId xmlns:a16="http://schemas.microsoft.com/office/drawing/2014/main" id="{B565A2C3-5138-42FB-B2EE-6E633115AF58}"/>
              </a:ext>
            </a:extLst>
          </p:cNvPr>
          <p:cNvSpPr>
            <a:spLocks noGrp="1"/>
          </p:cNvSpPr>
          <p:nvPr/>
        </p:nvSpPr>
        <p:spPr>
          <a:xfrm>
            <a:off x="6307661" y="5491318"/>
            <a:ext cx="427212" cy="427242"/>
          </a:xfrm>
          <a:prstGeom prst="ellipse">
            <a:avLst/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31" name="step-3-number">
            <a:extLst>
              <a:ext uri="{FF2B5EF4-FFF2-40B4-BE49-F238E27FC236}">
                <a16:creationId xmlns:a16="http://schemas.microsoft.com/office/drawing/2014/main" id="{3E0FE950-1654-401F-A6DB-8F0564D90791}"/>
              </a:ext>
            </a:extLst>
          </p:cNvPr>
          <p:cNvSpPr>
            <a:spLocks noGrp="1"/>
          </p:cNvSpPr>
          <p:nvPr/>
        </p:nvSpPr>
        <p:spPr>
          <a:xfrm>
            <a:off x="6307661" y="5491318"/>
            <a:ext cx="427212" cy="427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step-3-copy">
            <a:extLst>
              <a:ext uri="{FF2B5EF4-FFF2-40B4-BE49-F238E27FC236}">
                <a16:creationId xmlns:a16="http://schemas.microsoft.com/office/drawing/2014/main" id="{8F2DCC52-A99E-4E34-BB33-3CB7040AD970}"/>
              </a:ext>
            </a:extLst>
          </p:cNvPr>
          <p:cNvSpPr>
            <a:spLocks noGrp="1"/>
          </p:cNvSpPr>
          <p:nvPr/>
        </p:nvSpPr>
        <p:spPr>
          <a:xfrm>
            <a:off x="6910784" y="5466186"/>
            <a:ext cx="6533832" cy="502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with delete, modify, and mixed-change limits</a:t>
            </a:r>
          </a:p>
        </p:txBody>
      </p:sp>
      <p:sp>
        <p:nvSpPr>
          <p:cNvPr id="33" name="threshold-note-bg">
            <a:extLst>
              <a:ext uri="{FF2B5EF4-FFF2-40B4-BE49-F238E27FC236}">
                <a16:creationId xmlns:a16="http://schemas.microsoft.com/office/drawing/2014/main" id="{52CB6875-563C-47B2-A218-290ECE8026D8}"/>
              </a:ext>
            </a:extLst>
          </p:cNvPr>
          <p:cNvSpPr>
            <a:spLocks noGrp="1"/>
          </p:cNvSpPr>
          <p:nvPr/>
        </p:nvSpPr>
        <p:spPr>
          <a:xfrm>
            <a:off x="6307661" y="6195011"/>
            <a:ext cx="7162086" cy="289017"/>
          </a:xfrm>
          <a:prstGeom prst="roundRect">
            <a:avLst>
              <a:gd name="adj" fmla="val 34780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34" name="threshold-note">
            <a:extLst>
              <a:ext uri="{FF2B5EF4-FFF2-40B4-BE49-F238E27FC236}">
                <a16:creationId xmlns:a16="http://schemas.microsoft.com/office/drawing/2014/main" id="{E8D20D8E-952E-4638-ACDF-C3A36CAF4170}"/>
              </a:ext>
            </a:extLst>
          </p:cNvPr>
          <p:cNvSpPr>
            <a:spLocks noGrp="1"/>
          </p:cNvSpPr>
          <p:nvPr/>
        </p:nvSpPr>
        <p:spPr>
          <a:xfrm>
            <a:off x="6458442" y="6195011"/>
            <a:ext cx="6873089" cy="2764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8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window and alert limits can be changed in Monitor files.</a:t>
            </a:r>
          </a:p>
        </p:txBody>
      </p:sp>
      <p:sp>
        <p:nvSpPr>
          <p:cNvPr id="35" name="review-and-response">
            <a:extLst>
              <a:ext uri="{FF2B5EF4-FFF2-40B4-BE49-F238E27FC236}">
                <a16:creationId xmlns:a16="http://schemas.microsoft.com/office/drawing/2014/main" id="{77314653-180A-42B8-BD8E-A63741A07F60}"/>
              </a:ext>
            </a:extLst>
          </p:cNvPr>
          <p:cNvSpPr>
            <a:spLocks noGrp="1"/>
          </p:cNvSpPr>
          <p:nvPr/>
        </p:nvSpPr>
        <p:spPr>
          <a:xfrm>
            <a:off x="14789079" y="2764508"/>
            <a:ext cx="4611378" cy="3895443"/>
          </a:xfrm>
          <a:prstGeom prst="roundRect">
            <a:avLst>
              <a:gd name="adj" fmla="val 6451"/>
            </a:avLst>
          </a:prstGeom>
          <a:solidFill>
            <a:srgbClr val="F0F0F0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37" name="results-heading">
            <a:extLst>
              <a:ext uri="{FF2B5EF4-FFF2-40B4-BE49-F238E27FC236}">
                <a16:creationId xmlns:a16="http://schemas.microsoft.com/office/drawing/2014/main" id="{BB386F7A-D78D-4707-A182-4D14907DDB47}"/>
              </a:ext>
            </a:extLst>
          </p:cNvPr>
          <p:cNvSpPr>
            <a:spLocks noGrp="1"/>
          </p:cNvSpPr>
          <p:nvPr/>
        </p:nvSpPr>
        <p:spPr>
          <a:xfrm>
            <a:off x="15115770" y="3003261"/>
            <a:ext cx="3957995" cy="3644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82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82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AND RESPONSE</a:t>
            </a:r>
          </a:p>
        </p:txBody>
      </p:sp>
      <p:sp>
        <p:nvSpPr>
          <p:cNvPr id="38" name="dashboard-result">
            <a:extLst>
              <a:ext uri="{FF2B5EF4-FFF2-40B4-BE49-F238E27FC236}">
                <a16:creationId xmlns:a16="http://schemas.microsoft.com/office/drawing/2014/main" id="{6ABEC9AF-C46C-494E-A498-8EB1BF6F5E67}"/>
              </a:ext>
            </a:extLst>
          </p:cNvPr>
          <p:cNvSpPr>
            <a:spLocks noGrp="1"/>
          </p:cNvSpPr>
          <p:nvPr/>
        </p:nvSpPr>
        <p:spPr>
          <a:xfrm>
            <a:off x="15090640" y="3505899"/>
            <a:ext cx="4008255" cy="904748"/>
          </a:xfrm>
          <a:prstGeom prst="roundRect">
            <a:avLst>
              <a:gd name="adj" fmla="val 16665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39" name="dashboard-title">
            <a:extLst>
              <a:ext uri="{FF2B5EF4-FFF2-40B4-BE49-F238E27FC236}">
                <a16:creationId xmlns:a16="http://schemas.microsoft.com/office/drawing/2014/main" id="{A530CA57-F929-4DB7-AF55-284D6FEA723D}"/>
              </a:ext>
            </a:extLst>
          </p:cNvPr>
          <p:cNvSpPr>
            <a:spLocks noGrp="1"/>
          </p:cNvSpPr>
          <p:nvPr/>
        </p:nvSpPr>
        <p:spPr>
          <a:xfrm>
            <a:off x="15304246" y="3593860"/>
            <a:ext cx="3568478" cy="3267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40" name="dashboard-copy">
            <a:extLst>
              <a:ext uri="{FF2B5EF4-FFF2-40B4-BE49-F238E27FC236}">
                <a16:creationId xmlns:a16="http://schemas.microsoft.com/office/drawing/2014/main" id="{4BE37782-C3FE-419E-8A61-EB3550BE8FFC}"/>
              </a:ext>
            </a:extLst>
          </p:cNvPr>
          <p:cNvSpPr>
            <a:spLocks noGrp="1"/>
          </p:cNvSpPr>
          <p:nvPr/>
        </p:nvSpPr>
        <p:spPr>
          <a:xfrm>
            <a:off x="15304246" y="3945707"/>
            <a:ext cx="3568478" cy="3267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8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Recent activity, paths, counts, and alerts</a:t>
            </a:r>
          </a:p>
        </p:txBody>
      </p:sp>
      <p:sp>
        <p:nvSpPr>
          <p:cNvPr id="41" name="email-result">
            <a:extLst>
              <a:ext uri="{FF2B5EF4-FFF2-40B4-BE49-F238E27FC236}">
                <a16:creationId xmlns:a16="http://schemas.microsoft.com/office/drawing/2014/main" id="{9CD92484-78CF-4878-A630-44E5D536904F}"/>
              </a:ext>
            </a:extLst>
          </p:cNvPr>
          <p:cNvSpPr>
            <a:spLocks noGrp="1"/>
          </p:cNvSpPr>
          <p:nvPr/>
        </p:nvSpPr>
        <p:spPr>
          <a:xfrm>
            <a:off x="15090640" y="4561438"/>
            <a:ext cx="1859629" cy="1533045"/>
          </a:xfrm>
          <a:prstGeom prst="roundRect">
            <a:avLst>
              <a:gd name="adj" fmla="val 9835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42" name="email-title">
            <a:extLst>
              <a:ext uri="{FF2B5EF4-FFF2-40B4-BE49-F238E27FC236}">
                <a16:creationId xmlns:a16="http://schemas.microsoft.com/office/drawing/2014/main" id="{40CA7A61-3A58-40D2-B484-83802FDF59ED}"/>
              </a:ext>
            </a:extLst>
          </p:cNvPr>
          <p:cNvSpPr>
            <a:spLocks noGrp="1"/>
          </p:cNvSpPr>
          <p:nvPr/>
        </p:nvSpPr>
        <p:spPr>
          <a:xfrm>
            <a:off x="15279116" y="4661965"/>
            <a:ext cx="1482677" cy="314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8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43" name="email-copy">
            <a:extLst>
              <a:ext uri="{FF2B5EF4-FFF2-40B4-BE49-F238E27FC236}">
                <a16:creationId xmlns:a16="http://schemas.microsoft.com/office/drawing/2014/main" id="{225A6251-058B-4DFF-AB13-AA6E0A4EAA96}"/>
              </a:ext>
            </a:extLst>
          </p:cNvPr>
          <p:cNvSpPr>
            <a:spLocks noGrp="1"/>
          </p:cNvSpPr>
          <p:nvPr/>
        </p:nvSpPr>
        <p:spPr>
          <a:xfrm>
            <a:off x="15279116" y="5051510"/>
            <a:ext cx="1482677" cy="8921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Alert report when SMTP is configured.</a:t>
            </a:r>
          </a:p>
        </p:txBody>
      </p:sp>
      <p:sp>
        <p:nvSpPr>
          <p:cNvPr id="44" name="quarantine-result">
            <a:extLst>
              <a:ext uri="{FF2B5EF4-FFF2-40B4-BE49-F238E27FC236}">
                <a16:creationId xmlns:a16="http://schemas.microsoft.com/office/drawing/2014/main" id="{9F733E3F-BA76-4C2C-A410-BC8052D5B9A2}"/>
              </a:ext>
            </a:extLst>
          </p:cNvPr>
          <p:cNvSpPr>
            <a:spLocks noGrp="1"/>
          </p:cNvSpPr>
          <p:nvPr/>
        </p:nvSpPr>
        <p:spPr>
          <a:xfrm>
            <a:off x="17101050" y="4561438"/>
            <a:ext cx="1997845" cy="1533045"/>
          </a:xfrm>
          <a:prstGeom prst="roundRect">
            <a:avLst>
              <a:gd name="adj" fmla="val 9835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45" name="quarantine-scope">
            <a:extLst>
              <a:ext uri="{FF2B5EF4-FFF2-40B4-BE49-F238E27FC236}">
                <a16:creationId xmlns:a16="http://schemas.microsoft.com/office/drawing/2014/main" id="{23424F05-1D84-4766-99C7-CECB428D148A}"/>
              </a:ext>
            </a:extLst>
          </p:cNvPr>
          <p:cNvSpPr>
            <a:spLocks noGrp="1"/>
          </p:cNvSpPr>
          <p:nvPr/>
        </p:nvSpPr>
        <p:spPr>
          <a:xfrm>
            <a:off x="17276961" y="4636834"/>
            <a:ext cx="1658588" cy="2513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633"/>
          </a:bodyPr>
          <a:lstStyle>
            <a:defPPr algn="l">
              <a:defRPr sz="1187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pPr>
            <a:r>
              <a:rPr sz="1187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SERVER FOLDER ONLY</a:t>
            </a:r>
          </a:p>
        </p:txBody>
      </p:sp>
      <p:sp>
        <p:nvSpPr>
          <p:cNvPr id="46" name="quarantine-title">
            <a:extLst>
              <a:ext uri="{FF2B5EF4-FFF2-40B4-BE49-F238E27FC236}">
                <a16:creationId xmlns:a16="http://schemas.microsoft.com/office/drawing/2014/main" id="{08385F91-ED18-4451-A2A2-D518BC551121}"/>
              </a:ext>
            </a:extLst>
          </p:cNvPr>
          <p:cNvSpPr>
            <a:spLocks noGrp="1"/>
          </p:cNvSpPr>
          <p:nvPr/>
        </p:nvSpPr>
        <p:spPr>
          <a:xfrm>
            <a:off x="17276961" y="4913284"/>
            <a:ext cx="1658588" cy="3015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81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781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Quarantine</a:t>
            </a:r>
          </a:p>
        </p:txBody>
      </p:sp>
      <p:sp>
        <p:nvSpPr>
          <p:cNvPr id="47" name="quarantine-copy">
            <a:extLst>
              <a:ext uri="{FF2B5EF4-FFF2-40B4-BE49-F238E27FC236}">
                <a16:creationId xmlns:a16="http://schemas.microsoft.com/office/drawing/2014/main" id="{8C2EB92B-A96F-4A27-A31F-0B6A8F847AE5}"/>
              </a:ext>
            </a:extLst>
          </p:cNvPr>
          <p:cNvSpPr>
            <a:spLocks noGrp="1"/>
          </p:cNvSpPr>
          <p:nvPr/>
        </p:nvSpPr>
        <p:spPr>
          <a:xfrm>
            <a:off x="17276961" y="5265131"/>
            <a:ext cx="1658588" cy="728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 or opt-in automatic; restore from history.</a:t>
            </a:r>
          </a:p>
        </p:txBody>
      </p:sp>
      <p:sp>
        <p:nvSpPr>
          <p:cNvPr id="48" name="alert-caveat">
            <a:extLst>
              <a:ext uri="{FF2B5EF4-FFF2-40B4-BE49-F238E27FC236}">
                <a16:creationId xmlns:a16="http://schemas.microsoft.com/office/drawing/2014/main" id="{4EA8310B-AC2F-4FA7-BE2E-D10AE9ACA9F4}"/>
              </a:ext>
            </a:extLst>
          </p:cNvPr>
          <p:cNvSpPr>
            <a:spLocks noGrp="1"/>
          </p:cNvSpPr>
          <p:nvPr/>
        </p:nvSpPr>
        <p:spPr>
          <a:xfrm>
            <a:off x="15002685" y="6182445"/>
            <a:ext cx="4209296" cy="3392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8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Alerts are review signals, not malware verdicts.</a:t>
            </a:r>
          </a:p>
        </p:txBody>
      </p:sp>
      <p:sp>
        <p:nvSpPr>
          <p:cNvPr id="51" name="silrad-lane">
            <a:extLst>
              <a:ext uri="{FF2B5EF4-FFF2-40B4-BE49-F238E27FC236}">
                <a16:creationId xmlns:a16="http://schemas.microsoft.com/office/drawing/2014/main" id="{D0C50643-E879-4C9D-B519-C074331E5C52}"/>
              </a:ext>
            </a:extLst>
          </p:cNvPr>
          <p:cNvSpPr>
            <a:spLocks noGrp="1"/>
          </p:cNvSpPr>
          <p:nvPr/>
        </p:nvSpPr>
        <p:spPr>
          <a:xfrm>
            <a:off x="728774" y="7351078"/>
            <a:ext cx="18671683" cy="3141486"/>
          </a:xfrm>
          <a:prstGeom prst="roundRect">
            <a:avLst>
              <a:gd name="adj" fmla="val 7999"/>
            </a:avLst>
          </a:prstGeom>
          <a:solidFill>
            <a:srgbClr val="F0F0F0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52" name="silrad-heading">
            <a:extLst>
              <a:ext uri="{FF2B5EF4-FFF2-40B4-BE49-F238E27FC236}">
                <a16:creationId xmlns:a16="http://schemas.microsoft.com/office/drawing/2014/main" id="{A006AB02-0396-4246-B08F-7A9B54251878}"/>
              </a:ext>
            </a:extLst>
          </p:cNvPr>
          <p:cNvSpPr>
            <a:spLocks noGrp="1"/>
          </p:cNvSpPr>
          <p:nvPr/>
        </p:nvSpPr>
        <p:spPr>
          <a:xfrm>
            <a:off x="1030335" y="7602396"/>
            <a:ext cx="7790339" cy="414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979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979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   OFFLINE SILRAD BENCHMARK</a:t>
            </a:r>
          </a:p>
        </p:txBody>
      </p:sp>
      <p:sp>
        <p:nvSpPr>
          <p:cNvPr id="53" name="silrad-separate">
            <a:extLst>
              <a:ext uri="{FF2B5EF4-FFF2-40B4-BE49-F238E27FC236}">
                <a16:creationId xmlns:a16="http://schemas.microsoft.com/office/drawing/2014/main" id="{3FE2DC89-B152-4D62-9022-79AA6E2296CF}"/>
              </a:ext>
            </a:extLst>
          </p:cNvPr>
          <p:cNvSpPr>
            <a:spLocks noGrp="1"/>
          </p:cNvSpPr>
          <p:nvPr/>
        </p:nvSpPr>
        <p:spPr>
          <a:xfrm>
            <a:off x="10680303" y="7602396"/>
            <a:ext cx="8355767" cy="414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68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separate workflow; results do not drive live alerts</a:t>
            </a:r>
          </a:p>
        </p:txBody>
      </p:sp>
      <p:sp>
        <p:nvSpPr>
          <p:cNvPr id="54" name="benchmark-1">
            <a:extLst>
              <a:ext uri="{FF2B5EF4-FFF2-40B4-BE49-F238E27FC236}">
                <a16:creationId xmlns:a16="http://schemas.microsoft.com/office/drawing/2014/main" id="{C4C2F87F-7D2B-430C-8110-2C353CF6208F}"/>
              </a:ext>
            </a:extLst>
          </p:cNvPr>
          <p:cNvSpPr>
            <a:spLocks noGrp="1"/>
          </p:cNvSpPr>
          <p:nvPr/>
        </p:nvSpPr>
        <p:spPr>
          <a:xfrm>
            <a:off x="1030335" y="8431749"/>
            <a:ext cx="3078440" cy="1457650"/>
          </a:xfrm>
          <a:prstGeom prst="roundRect">
            <a:avLst>
              <a:gd name="adj" fmla="val 11206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55" name="benchmark-1-title">
            <a:extLst>
              <a:ext uri="{FF2B5EF4-FFF2-40B4-BE49-F238E27FC236}">
                <a16:creationId xmlns:a16="http://schemas.microsoft.com/office/drawing/2014/main" id="{FB9459F1-38C8-48C5-9FCB-8EC87B7C004A}"/>
              </a:ext>
            </a:extLst>
          </p:cNvPr>
          <p:cNvSpPr>
            <a:spLocks noGrp="1"/>
          </p:cNvSpPr>
          <p:nvPr/>
        </p:nvSpPr>
        <p:spPr>
          <a:xfrm>
            <a:off x="1231376" y="8582540"/>
            <a:ext cx="2676358" cy="3267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84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  LABELED DATA</a:t>
            </a:r>
          </a:p>
        </p:txBody>
      </p:sp>
      <p:sp>
        <p:nvSpPr>
          <p:cNvPr id="56" name="benchmark-1-copy">
            <a:extLst>
              <a:ext uri="{FF2B5EF4-FFF2-40B4-BE49-F238E27FC236}">
                <a16:creationId xmlns:a16="http://schemas.microsoft.com/office/drawing/2014/main" id="{3706D651-069B-4859-A5AD-EDB6B0EC32AC}"/>
              </a:ext>
            </a:extLst>
          </p:cNvPr>
          <p:cNvSpPr>
            <a:spLocks noGrp="1"/>
          </p:cNvSpPr>
          <p:nvPr/>
        </p:nvSpPr>
        <p:spPr>
          <a:xfrm>
            <a:off x="1231376" y="8997216"/>
            <a:ext cx="2676358" cy="7539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Published SILRAD</a:t>
            </a:r>
          </a:p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Sysmon events</a:t>
            </a:r>
          </a:p>
        </p:txBody>
      </p:sp>
      <p:sp>
        <p:nvSpPr>
          <p:cNvPr id="57" name="benchmark-2">
            <a:extLst>
              <a:ext uri="{FF2B5EF4-FFF2-40B4-BE49-F238E27FC236}">
                <a16:creationId xmlns:a16="http://schemas.microsoft.com/office/drawing/2014/main" id="{426CA675-2A91-49C6-B328-551B99437C83}"/>
              </a:ext>
            </a:extLst>
          </p:cNvPr>
          <p:cNvSpPr>
            <a:spLocks noGrp="1"/>
          </p:cNvSpPr>
          <p:nvPr/>
        </p:nvSpPr>
        <p:spPr>
          <a:xfrm>
            <a:off x="4787289" y="8431749"/>
            <a:ext cx="3078440" cy="1457650"/>
          </a:xfrm>
          <a:prstGeom prst="roundRect">
            <a:avLst>
              <a:gd name="adj" fmla="val 11206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58" name="benchmark-2-title">
            <a:extLst>
              <a:ext uri="{FF2B5EF4-FFF2-40B4-BE49-F238E27FC236}">
                <a16:creationId xmlns:a16="http://schemas.microsoft.com/office/drawing/2014/main" id="{2988FDE3-EE9A-4021-A175-B79FA78B9310}"/>
              </a:ext>
            </a:extLst>
          </p:cNvPr>
          <p:cNvSpPr>
            <a:spLocks noGrp="1"/>
          </p:cNvSpPr>
          <p:nvPr/>
        </p:nvSpPr>
        <p:spPr>
          <a:xfrm>
            <a:off x="4988330" y="8582540"/>
            <a:ext cx="2676358" cy="3267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84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 PREPARE</a:t>
            </a:r>
          </a:p>
        </p:txBody>
      </p:sp>
      <p:sp>
        <p:nvSpPr>
          <p:cNvPr id="59" name="benchmark-2-copy">
            <a:extLst>
              <a:ext uri="{FF2B5EF4-FFF2-40B4-BE49-F238E27FC236}">
                <a16:creationId xmlns:a16="http://schemas.microsoft.com/office/drawing/2014/main" id="{E1BF7D90-CB34-46D8-95C3-EC6D9190F993}"/>
              </a:ext>
            </a:extLst>
          </p:cNvPr>
          <p:cNvSpPr>
            <a:spLocks noGrp="1"/>
          </p:cNvSpPr>
          <p:nvPr/>
        </p:nvSpPr>
        <p:spPr>
          <a:xfrm>
            <a:off x="4988330" y="8997216"/>
            <a:ext cx="2676358" cy="7539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Prepare dataset</a:t>
            </a:r>
          </a:p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features</a:t>
            </a:r>
          </a:p>
        </p:txBody>
      </p:sp>
      <p:sp>
        <p:nvSpPr>
          <p:cNvPr id="60" name="benchmark-3">
            <a:extLst>
              <a:ext uri="{FF2B5EF4-FFF2-40B4-BE49-F238E27FC236}">
                <a16:creationId xmlns:a16="http://schemas.microsoft.com/office/drawing/2014/main" id="{1A42A39D-C4CE-4FFE-972E-2B167AF120B3}"/>
              </a:ext>
            </a:extLst>
          </p:cNvPr>
          <p:cNvSpPr>
            <a:spLocks noGrp="1"/>
          </p:cNvSpPr>
          <p:nvPr/>
        </p:nvSpPr>
        <p:spPr>
          <a:xfrm>
            <a:off x="8544243" y="8431749"/>
            <a:ext cx="3078440" cy="1457650"/>
          </a:xfrm>
          <a:prstGeom prst="roundRect">
            <a:avLst>
              <a:gd name="adj" fmla="val 11206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61" name="benchmark-3-title">
            <a:extLst>
              <a:ext uri="{FF2B5EF4-FFF2-40B4-BE49-F238E27FC236}">
                <a16:creationId xmlns:a16="http://schemas.microsoft.com/office/drawing/2014/main" id="{AB503999-9303-4943-908E-A5E91269C6B6}"/>
              </a:ext>
            </a:extLst>
          </p:cNvPr>
          <p:cNvSpPr>
            <a:spLocks noGrp="1"/>
          </p:cNvSpPr>
          <p:nvPr/>
        </p:nvSpPr>
        <p:spPr>
          <a:xfrm>
            <a:off x="8745284" y="8582540"/>
            <a:ext cx="2676358" cy="3267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84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 THRESHOLD</a:t>
            </a:r>
          </a:p>
        </p:txBody>
      </p:sp>
      <p:sp>
        <p:nvSpPr>
          <p:cNvPr id="62" name="benchmark-3-copy">
            <a:extLst>
              <a:ext uri="{FF2B5EF4-FFF2-40B4-BE49-F238E27FC236}">
                <a16:creationId xmlns:a16="http://schemas.microsoft.com/office/drawing/2014/main" id="{B40435B7-2535-4C2C-AE60-52FE2C11BE6F}"/>
              </a:ext>
            </a:extLst>
          </p:cNvPr>
          <p:cNvSpPr>
            <a:spLocks noGrp="1"/>
          </p:cNvSpPr>
          <p:nvPr/>
        </p:nvSpPr>
        <p:spPr>
          <a:xfrm>
            <a:off x="8745284" y="8997216"/>
            <a:ext cx="2676358" cy="7539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using training</a:t>
            </a:r>
          </a:p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only</a:t>
            </a:r>
          </a:p>
        </p:txBody>
      </p:sp>
      <p:sp>
        <p:nvSpPr>
          <p:cNvPr id="63" name="benchmark-4">
            <a:extLst>
              <a:ext uri="{FF2B5EF4-FFF2-40B4-BE49-F238E27FC236}">
                <a16:creationId xmlns:a16="http://schemas.microsoft.com/office/drawing/2014/main" id="{E62892A1-99DE-4427-A455-8F75C91F3C2D}"/>
              </a:ext>
            </a:extLst>
          </p:cNvPr>
          <p:cNvSpPr>
            <a:spLocks noGrp="1"/>
          </p:cNvSpPr>
          <p:nvPr/>
        </p:nvSpPr>
        <p:spPr>
          <a:xfrm>
            <a:off x="12301196" y="8431749"/>
            <a:ext cx="3078440" cy="1457650"/>
          </a:xfrm>
          <a:prstGeom prst="roundRect">
            <a:avLst>
              <a:gd name="adj" fmla="val 11206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64" name="benchmark-4-title">
            <a:extLst>
              <a:ext uri="{FF2B5EF4-FFF2-40B4-BE49-F238E27FC236}">
                <a16:creationId xmlns:a16="http://schemas.microsoft.com/office/drawing/2014/main" id="{63358DBB-45CB-42BF-9CE2-9E8A046383B6}"/>
              </a:ext>
            </a:extLst>
          </p:cNvPr>
          <p:cNvSpPr>
            <a:spLocks noGrp="1"/>
          </p:cNvSpPr>
          <p:nvPr/>
        </p:nvSpPr>
        <p:spPr>
          <a:xfrm>
            <a:off x="12502237" y="8582540"/>
            <a:ext cx="2676358" cy="3267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84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 EVALUATE</a:t>
            </a:r>
          </a:p>
        </p:txBody>
      </p:sp>
      <p:sp>
        <p:nvSpPr>
          <p:cNvPr id="65" name="benchmark-4-copy">
            <a:extLst>
              <a:ext uri="{FF2B5EF4-FFF2-40B4-BE49-F238E27FC236}">
                <a16:creationId xmlns:a16="http://schemas.microsoft.com/office/drawing/2014/main" id="{B2F64F93-3C7E-4F46-9010-32E109758B80}"/>
              </a:ext>
            </a:extLst>
          </p:cNvPr>
          <p:cNvSpPr>
            <a:spLocks noGrp="1"/>
          </p:cNvSpPr>
          <p:nvPr/>
        </p:nvSpPr>
        <p:spPr>
          <a:xfrm>
            <a:off x="12502237" y="8997216"/>
            <a:ext cx="2676358" cy="7539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Incremental ARF predicts</a:t>
            </a:r>
          </a:p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held-out event, then learns</a:t>
            </a:r>
          </a:p>
        </p:txBody>
      </p:sp>
      <p:sp>
        <p:nvSpPr>
          <p:cNvPr id="66" name="benchmark-5">
            <a:extLst>
              <a:ext uri="{FF2B5EF4-FFF2-40B4-BE49-F238E27FC236}">
                <a16:creationId xmlns:a16="http://schemas.microsoft.com/office/drawing/2014/main" id="{ACC9CF77-CBF2-44C5-9001-BB33D9D1E379}"/>
              </a:ext>
            </a:extLst>
          </p:cNvPr>
          <p:cNvSpPr>
            <a:spLocks noGrp="1"/>
          </p:cNvSpPr>
          <p:nvPr/>
        </p:nvSpPr>
        <p:spPr>
          <a:xfrm>
            <a:off x="16058150" y="8431749"/>
            <a:ext cx="3078440" cy="1457650"/>
          </a:xfrm>
          <a:prstGeom prst="roundRect">
            <a:avLst>
              <a:gd name="adj" fmla="val 11206"/>
            </a:avLst>
          </a:prstGeom>
          <a:solidFill>
            <a:srgbClr val="FFFFFF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67" name="benchmark-5-title">
            <a:extLst>
              <a:ext uri="{FF2B5EF4-FFF2-40B4-BE49-F238E27FC236}">
                <a16:creationId xmlns:a16="http://schemas.microsoft.com/office/drawing/2014/main" id="{66E19433-03A8-44C2-A5AF-A219B23A0FEC}"/>
              </a:ext>
            </a:extLst>
          </p:cNvPr>
          <p:cNvSpPr>
            <a:spLocks noGrp="1"/>
          </p:cNvSpPr>
          <p:nvPr/>
        </p:nvSpPr>
        <p:spPr>
          <a:xfrm>
            <a:off x="16259191" y="8582540"/>
            <a:ext cx="2676358" cy="3267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84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  REPORT</a:t>
            </a:r>
          </a:p>
        </p:txBody>
      </p:sp>
      <p:sp>
        <p:nvSpPr>
          <p:cNvPr id="68" name="benchmark-5-copy">
            <a:extLst>
              <a:ext uri="{FF2B5EF4-FFF2-40B4-BE49-F238E27FC236}">
                <a16:creationId xmlns:a16="http://schemas.microsoft.com/office/drawing/2014/main" id="{B4F59EF5-37A1-4A14-8583-17A438FB6919}"/>
              </a:ext>
            </a:extLst>
          </p:cNvPr>
          <p:cNvSpPr>
            <a:spLocks noGrp="1"/>
          </p:cNvSpPr>
          <p:nvPr/>
        </p:nvSpPr>
        <p:spPr>
          <a:xfrm>
            <a:off x="16259191" y="8997216"/>
            <a:ext cx="2676358" cy="7539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Metrics and</a:t>
            </a:r>
          </a:p>
          <a:p>
            <a:pPr algn="l">
              <a:buNone/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report</a:t>
            </a:r>
          </a:p>
        </p:txBody>
      </p:sp>
      <p:sp>
        <p:nvSpPr>
          <p:cNvPr id="73" name="scope-note">
            <a:extLst>
              <a:ext uri="{FF2B5EF4-FFF2-40B4-BE49-F238E27FC236}">
                <a16:creationId xmlns:a16="http://schemas.microsoft.com/office/drawing/2014/main" id="{456F61FC-B1B3-4ED7-97E3-79116016E4CD}"/>
              </a:ext>
            </a:extLst>
          </p:cNvPr>
          <p:cNvSpPr>
            <a:spLocks noGrp="1"/>
          </p:cNvSpPr>
          <p:nvPr/>
        </p:nvSpPr>
        <p:spPr>
          <a:xfrm>
            <a:off x="1030335" y="10065321"/>
            <a:ext cx="17968039" cy="3015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8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58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SILRAD measures performance on labeled data; it does not trigger live file alerts or quarantine.</a:t>
            </a:r>
          </a:p>
        </p:txBody>
      </p:sp>
    </p:spTree>
    <p:extLst>
      <p:ext uri="{BB962C8B-B14F-4D97-AF65-F5344CB8AC3E}">
        <p14:creationId xmlns:p14="http://schemas.microsoft.com/office/powerpoint/2010/main" val="1032095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DocSecurity>0</DocSecurity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DHANUSH AGS</cp:lastModifiedBy>
  <cp:revision>1</cp:revision>
  <dcterms:created xsi:type="dcterms:W3CDTF">2026-10-22T05:55:09Z</dcterms:created>
  <dcterms:modified xsi:type="dcterms:W3CDTF">2026-10-22T06:19:07Z</dcterms:modified>
</cp:coreProperties>
</file>